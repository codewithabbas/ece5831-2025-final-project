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1" r:id="rId3"/>
    <p:sldId id="259" r:id="rId4"/>
    <p:sldId id="262" r:id="rId5"/>
    <p:sldId id="292" r:id="rId6"/>
    <p:sldId id="296" r:id="rId7"/>
    <p:sldId id="297" r:id="rId8"/>
    <p:sldId id="298" r:id="rId9"/>
    <p:sldId id="267" r:id="rId10"/>
    <p:sldId id="266" r:id="rId11"/>
    <p:sldId id="268" r:id="rId12"/>
    <p:sldId id="269" r:id="rId13"/>
    <p:sldId id="270" r:id="rId14"/>
    <p:sldId id="271" r:id="rId15"/>
    <p:sldId id="272" r:id="rId16"/>
    <p:sldId id="276" r:id="rId17"/>
    <p:sldId id="277" r:id="rId18"/>
    <p:sldId id="278" r:id="rId19"/>
    <p:sldId id="279" r:id="rId20"/>
    <p:sldId id="281" r:id="rId21"/>
    <p:sldId id="282" r:id="rId22"/>
    <p:sldId id="284" r:id="rId23"/>
    <p:sldId id="289" r:id="rId24"/>
    <p:sldId id="290" r:id="rId25"/>
    <p:sldId id="300" r:id="rId26"/>
    <p:sldId id="29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2"/>
    <a:srgbClr val="D0D8E8"/>
    <a:srgbClr val="F2F2F2"/>
    <a:srgbClr val="D7AC62"/>
    <a:srgbClr val="D2A65D"/>
    <a:srgbClr val="6F6E7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73" autoAdjust="0"/>
  </p:normalViewPr>
  <p:slideViewPr>
    <p:cSldViewPr snapToGrid="0" snapToObjects="1">
      <p:cViewPr>
        <p:scale>
          <a:sx n="75" d="100"/>
          <a:sy n="75" d="100"/>
        </p:scale>
        <p:origin x="1836" y="6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2286000"/>
            <a:ext cx="12191695" cy="13716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548640"/>
            <a:ext cx="11277295" cy="1446550"/>
          </a:xfrm>
          <a:prstGeom prst="rect">
            <a:avLst/>
          </a:prstGeom>
          <a:noFill/>
        </p:spPr>
        <p:txBody>
          <a:bodyPr wrap="square">
            <a:spAutoFit/>
          </a:bodyPr>
          <a:lstStyle/>
          <a:p>
            <a:pPr algn="ctr">
              <a:defRPr sz="4400" b="1">
                <a:solidFill>
                  <a:srgbClr val="FFFFFF"/>
                </a:solidFill>
              </a:defRPr>
            </a:pPr>
            <a:r>
              <a:rPr>
                <a:latin typeface="Times New Roman" panose="02020603050405020304" pitchFamily="18" charset="0"/>
                <a:cs typeface="Times New Roman" panose="02020603050405020304" pitchFamily="18" charset="0"/>
              </a:rPr>
              <a:t>Voice-Based Speaker Recognition Using MFCC and LSTM</a:t>
            </a:r>
          </a:p>
        </p:txBody>
      </p:sp>
      <p:sp>
        <p:nvSpPr>
          <p:cNvPr id="5" name="TextBox 4"/>
          <p:cNvSpPr txBox="1"/>
          <p:nvPr/>
        </p:nvSpPr>
        <p:spPr>
          <a:xfrm>
            <a:off x="4979712" y="2713970"/>
            <a:ext cx="2232279" cy="461665"/>
          </a:xfrm>
          <a:prstGeom prst="rect">
            <a:avLst/>
          </a:prstGeom>
          <a:noFill/>
        </p:spPr>
        <p:txBody>
          <a:bodyPr wrap="none">
            <a:spAutoFit/>
          </a:bodyPr>
          <a:lstStyle/>
          <a:p>
            <a:pPr algn="ctr">
              <a:defRPr sz="2400">
                <a:solidFill>
                  <a:srgbClr val="FFCB05"/>
                </a:solidFill>
              </a:defRPr>
            </a:pPr>
            <a:r>
              <a:rPr lang="en-US" b="1" dirty="0">
                <a:solidFill>
                  <a:schemeClr val="tx2">
                    <a:lumMod val="75000"/>
                  </a:schemeClr>
                </a:solidFill>
                <a:latin typeface="Times New Roman" panose="02020603050405020304" pitchFamily="18" charset="0"/>
                <a:cs typeface="Times New Roman" panose="02020603050405020304" pitchFamily="18" charset="0"/>
              </a:rPr>
              <a:t>Team Members</a:t>
            </a:r>
            <a:endParaRPr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57200" y="3200400"/>
            <a:ext cx="11277295" cy="1938992"/>
          </a:xfrm>
          <a:prstGeom prst="rect">
            <a:avLst/>
          </a:prstGeom>
          <a:noFill/>
        </p:spPr>
        <p:txBody>
          <a:bodyPr wrap="square">
            <a:spAutoFit/>
          </a:bodyPr>
          <a:lstStyle/>
          <a:p>
            <a:pPr algn="ctr">
              <a:lnSpc>
                <a:spcPct val="150000"/>
              </a:lnSpc>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Abbas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Ali</a:t>
            </a:r>
            <a:r>
              <a:rPr dirty="0">
                <a:solidFill>
                  <a:schemeClr val="tx1">
                    <a:lumMod val="95000"/>
                    <a:lumOff val="5000"/>
                  </a:schemeClr>
                </a:solidFill>
                <a:latin typeface="Times New Roman" panose="02020603050405020304" pitchFamily="18" charset="0"/>
                <a:cs typeface="Times New Roman" panose="02020603050405020304" pitchFamily="18" charset="0"/>
              </a:rPr>
              <a:t> • Shravya </a:t>
            </a:r>
            <a:r>
              <a:rPr dirty="0" err="1">
                <a:solidFill>
                  <a:schemeClr val="tx1">
                    <a:lumMod val="95000"/>
                    <a:lumOff val="5000"/>
                  </a:schemeClr>
                </a:solidFill>
                <a:latin typeface="Times New Roman" panose="02020603050405020304" pitchFamily="18" charset="0"/>
                <a:cs typeface="Times New Roman" panose="02020603050405020304" pitchFamily="18" charset="0"/>
              </a:rPr>
              <a:t>Kumbham</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 Hesham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Aldahbali</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t>
            </a: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ECE 5831 - Pattern Recognition and Neural Networks</a:t>
            </a: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University of Michigan - Dearborn</a:t>
            </a:r>
          </a:p>
          <a:p>
            <a:pPr algn="ct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December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016E-AB64-DD9C-B1D1-FB13EC9572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9CEDCB-747F-91FA-63C4-0CEBB977BF89}"/>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850A461-4524-CA69-263C-6B7A6044C60F}"/>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ABAFB48-A2D9-60D9-0DD4-F775147D0143}"/>
              </a:ext>
            </a:extLst>
          </p:cNvPr>
          <p:cNvSpPr txBox="1"/>
          <p:nvPr/>
        </p:nvSpPr>
        <p:spPr>
          <a:xfrm>
            <a:off x="457200" y="320040"/>
            <a:ext cx="2410212"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CB17BF61-4F19-2386-8543-982C7BBA1CF8}"/>
              </a:ext>
            </a:extLst>
          </p:cNvPr>
          <p:cNvSpPr>
            <a:spLocks noChangeArrowheads="1"/>
          </p:cNvSpPr>
          <p:nvPr/>
        </p:nvSpPr>
        <p:spPr bwMode="auto">
          <a:xfrm>
            <a:off x="753157" y="1979355"/>
            <a:ext cx="1038474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This project explores an audio-based approach to speaker identification using speech recordings.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speech carries unique characteristics that can be used to distinguish individuals.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Speaker identification is the task of determining who is speaking from an audio signal.</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systems are widely used in security, authentication, surveillance, and human–computer interaction.</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focus is on building a system that can learn speaker-specific patterns and accurately identify speakers from new voice inputs.</a:t>
            </a:r>
          </a:p>
        </p:txBody>
      </p:sp>
    </p:spTree>
    <p:extLst>
      <p:ext uri="{BB962C8B-B14F-4D97-AF65-F5344CB8AC3E}">
        <p14:creationId xmlns:p14="http://schemas.microsoft.com/office/powerpoint/2010/main" val="2014576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3492238"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Goal of the Project</a:t>
            </a:r>
            <a:endParaRPr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31519" y="1417320"/>
            <a:ext cx="10728655" cy="4022704"/>
          </a:xfrm>
          <a:prstGeom prst="rect">
            <a:avLst/>
          </a:prstGeom>
          <a:noFill/>
        </p:spPr>
        <p:txBody>
          <a:bodyPr wrap="square">
            <a:spAutoFit/>
          </a:bodyPr>
          <a:lstStyle/>
          <a:p>
            <a:pPr>
              <a:lnSpc>
                <a:spcPct val="130000"/>
              </a:lnSpc>
              <a:spcBef>
                <a:spcPts val="1200"/>
              </a:spcBef>
              <a:defRPr sz="2000">
                <a:solidFill>
                  <a:srgbClr val="666666"/>
                </a:solidFill>
              </a:defRP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To design and implement a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robust speaker identification system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that can accurately recognize a speaker’s identity from raw speech audio using machine-learning–based feature extraction and deep learning, even under realistic recording conditions.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ts val="1200"/>
              </a:spcBef>
              <a:defRPr sz="2000">
                <a:solidFill>
                  <a:srgbClr val="666666"/>
                </a:solidFill>
              </a:defRPr>
            </a:pP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ts val="1200"/>
              </a:spcBef>
              <a:defRPr sz="2000">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Why this project matters:</a:t>
            </a:r>
            <a:endParaRPr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Voice authentication in banking, smart devices, security systems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Growing deployment in consumer applications</a:t>
            </a:r>
          </a:p>
          <a:p>
            <a:pPr marL="800100" lvl="1" indent="-342900">
              <a:lnSpc>
                <a:spcPct val="130000"/>
              </a:lnSpc>
              <a:spcBef>
                <a:spcPts val="1200"/>
              </a:spcBef>
              <a:buFont typeface="Wingdings" panose="05000000000000000000" pitchFamily="2" charset="2"/>
              <a:buChar char="§"/>
              <a:defRPr sz="2000">
                <a:solidFill>
                  <a:srgbClr val="666666"/>
                </a:solidFill>
              </a:defRPr>
            </a:pPr>
            <a:endParaRPr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3297698"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Dataset</a:t>
            </a:r>
            <a:r>
              <a:rPr lang="en-US" dirty="0">
                <a:latin typeface="Times New Roman" panose="02020603050405020304" pitchFamily="18" charset="0"/>
                <a:cs typeface="Times New Roman" panose="02020603050405020304" pitchFamily="18" charset="0"/>
              </a:rPr>
              <a:t> Overview</a:t>
            </a:r>
            <a:endParaRPr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247474" y="1632317"/>
            <a:ext cx="2134303" cy="338554"/>
          </a:xfrm>
          <a:prstGeom prst="rect">
            <a:avLst/>
          </a:prstGeom>
          <a:noFill/>
        </p:spPr>
        <p:txBody>
          <a:bodyPr wrap="none">
            <a:spAutoFit/>
          </a:bodyPr>
          <a:lstStyle/>
          <a:p>
            <a:pPr algn="ctr">
              <a:defRPr sz="1600" i="1">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Table.1 Kaggle Dataset</a:t>
            </a:r>
            <a:endParaRPr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72106588"/>
              </p:ext>
            </p:extLst>
          </p:nvPr>
        </p:nvGraphicFramePr>
        <p:xfrm>
          <a:off x="314171" y="2002095"/>
          <a:ext cx="6000904" cy="1706880"/>
        </p:xfrm>
        <a:graphic>
          <a:graphicData uri="http://schemas.openxmlformats.org/drawingml/2006/table">
            <a:tbl>
              <a:tblPr firstRow="1" bandRow="1">
                <a:tableStyleId>{5C22544A-7EE6-4342-B048-85BDC9FD1C3A}</a:tableStyleId>
              </a:tblPr>
              <a:tblGrid>
                <a:gridCol w="1467004">
                  <a:extLst>
                    <a:ext uri="{9D8B030D-6E8A-4147-A177-3AD203B41FA5}">
                      <a16:colId xmlns:a16="http://schemas.microsoft.com/office/drawing/2014/main" val="20000"/>
                    </a:ext>
                  </a:extLst>
                </a:gridCol>
                <a:gridCol w="4533900">
                  <a:extLst>
                    <a:ext uri="{9D8B030D-6E8A-4147-A177-3AD203B41FA5}">
                      <a16:colId xmlns:a16="http://schemas.microsoft.com/office/drawing/2014/main" val="20001"/>
                    </a:ext>
                  </a:extLst>
                </a:gridCol>
              </a:tblGrid>
              <a:tr h="183914">
                <a:tc>
                  <a:txBody>
                    <a:bodyPr/>
                    <a:lstStyle/>
                    <a:p>
                      <a:pPr algn="ctr">
                        <a:defRPr sz="1800" b="1">
                          <a:solidFill>
                            <a:srgbClr val="FFFFFF"/>
                          </a:solidFill>
                        </a:defRPr>
                      </a:pPr>
                      <a:r>
                        <a:rPr dirty="0">
                          <a:latin typeface="Times New Roman" panose="02020603050405020304" pitchFamily="18" charset="0"/>
                          <a:cs typeface="Times New Roman" panose="02020603050405020304" pitchFamily="18" charset="0"/>
                        </a:rPr>
                        <a:t>Metric</a:t>
                      </a:r>
                    </a:p>
                  </a:txBody>
                  <a:tcPr>
                    <a:solidFill>
                      <a:srgbClr val="00274C"/>
                    </a:solidFill>
                  </a:tcPr>
                </a:tc>
                <a:tc>
                  <a:txBody>
                    <a:bodyPr/>
                    <a:lstStyle/>
                    <a:p>
                      <a:pPr algn="ctr">
                        <a:defRPr sz="1800" b="1">
                          <a:solidFill>
                            <a:srgbClr val="FFFFFF"/>
                          </a:solidFill>
                        </a:defRPr>
                      </a:pPr>
                      <a:r>
                        <a:rPr dirty="0">
                          <a:latin typeface="Times New Roman" panose="02020603050405020304" pitchFamily="18" charset="0"/>
                          <a:cs typeface="Times New Roman" panose="02020603050405020304" pitchFamily="18" charset="0"/>
                        </a:rPr>
                        <a:t>Value</a:t>
                      </a:r>
                    </a:p>
                  </a:txBody>
                  <a:tcPr>
                    <a:solidFill>
                      <a:srgbClr val="00274C"/>
                    </a:solidFill>
                  </a:tcPr>
                </a:tc>
                <a:extLst>
                  <a:ext uri="{0D108BD9-81ED-4DB2-BD59-A6C34878D82A}">
                    <a16:rowId xmlns:a16="http://schemas.microsoft.com/office/drawing/2014/main" val="10000"/>
                  </a:ext>
                </a:extLst>
              </a:tr>
              <a:tr h="168588">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Dataset</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5 Public Figures</a:t>
                      </a:r>
                    </a:p>
                  </a:txBody>
                  <a:tcPr/>
                </a:tc>
                <a:extLst>
                  <a:ext uri="{0D108BD9-81ED-4DB2-BD59-A6C34878D82A}">
                    <a16:rowId xmlns:a16="http://schemas.microsoft.com/office/drawing/2014/main" val="10001"/>
                  </a:ext>
                </a:extLst>
              </a:tr>
              <a:tr h="168588">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Total Samples</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7,501 samples</a:t>
                      </a:r>
                    </a:p>
                  </a:txBody>
                  <a:tcPr>
                    <a:solidFill>
                      <a:srgbClr val="F2F2F2"/>
                    </a:solidFill>
                  </a:tcPr>
                </a:tc>
                <a:extLst>
                  <a:ext uri="{0D108BD9-81ED-4DB2-BD59-A6C34878D82A}">
                    <a16:rowId xmlns:a16="http://schemas.microsoft.com/office/drawing/2014/main" val="10002"/>
                  </a:ext>
                </a:extLst>
              </a:tr>
              <a:tr h="168588">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Speakers</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Mandela, Netanyahu, Stoltenberg, Gillard, Thatcher</a:t>
                      </a:r>
                    </a:p>
                  </a:txBody>
                  <a:tcPr/>
                </a:tc>
                <a:extLst>
                  <a:ext uri="{0D108BD9-81ED-4DB2-BD59-A6C34878D82A}">
                    <a16:rowId xmlns:a16="http://schemas.microsoft.com/office/drawing/2014/main" val="10003"/>
                  </a:ext>
                </a:extLst>
              </a:tr>
              <a:tr h="168588">
                <a:tc>
                  <a:txBody>
                    <a:bodyPr/>
                    <a:lstStyle/>
                    <a:p>
                      <a:pPr algn="ctr">
                        <a:defRPr sz="1600" b="1">
                          <a:solidFill>
                            <a:srgbClr val="333333"/>
                          </a:solidFill>
                        </a:defRPr>
                      </a:pPr>
                      <a:r>
                        <a:rPr lang="en-US" dirty="0">
                          <a:latin typeface="Times New Roman" panose="02020603050405020304" pitchFamily="18" charset="0"/>
                          <a:cs typeface="Times New Roman" panose="02020603050405020304" pitchFamily="18" charset="0"/>
                        </a:rPr>
                        <a:t>Format</a:t>
                      </a:r>
                      <a:endParaRPr dirty="0">
                        <a:latin typeface="Times New Roman" panose="02020603050405020304" pitchFamily="18" charset="0"/>
                        <a:cs typeface="Times New Roman" panose="02020603050405020304" pitchFamily="18" charset="0"/>
                      </a:endParaRPr>
                    </a:p>
                  </a:txBody>
                  <a:tcPr/>
                </a:tc>
                <a:tc>
                  <a:txBody>
                    <a:bodyPr/>
                    <a:lstStyle/>
                    <a:p>
                      <a:pPr algn="ctr">
                        <a:defRPr sz="1600">
                          <a:solidFill>
                            <a:srgbClr val="333333"/>
                          </a:solidFill>
                        </a:defRPr>
                      </a:pPr>
                      <a:r>
                        <a:rPr lang="en-US" dirty="0">
                          <a:latin typeface="Times New Roman" panose="02020603050405020304" pitchFamily="18" charset="0"/>
                          <a:cs typeface="Times New Roman" panose="02020603050405020304" pitchFamily="18" charset="0"/>
                        </a:rPr>
                        <a:t>.wav</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graphicFrame>
        <p:nvGraphicFramePr>
          <p:cNvPr id="7" name="Table 6">
            <a:extLst>
              <a:ext uri="{FF2B5EF4-FFF2-40B4-BE49-F238E27FC236}">
                <a16:creationId xmlns:a16="http://schemas.microsoft.com/office/drawing/2014/main" id="{AB7EE503-468F-9E45-F32A-2A2D834202AD}"/>
              </a:ext>
            </a:extLst>
          </p:cNvPr>
          <p:cNvGraphicFramePr>
            <a:graphicFrameLocks noGrp="1"/>
          </p:cNvGraphicFramePr>
          <p:nvPr>
            <p:extLst>
              <p:ext uri="{D42A27DB-BD31-4B8C-83A1-F6EECF244321}">
                <p14:modId xmlns:p14="http://schemas.microsoft.com/office/powerpoint/2010/main" val="1580931313"/>
              </p:ext>
            </p:extLst>
          </p:nvPr>
        </p:nvGraphicFramePr>
        <p:xfrm>
          <a:off x="6433516" y="2002095"/>
          <a:ext cx="5625134" cy="1706880"/>
        </p:xfrm>
        <a:graphic>
          <a:graphicData uri="http://schemas.openxmlformats.org/drawingml/2006/table">
            <a:tbl>
              <a:tblPr firstRow="1" bandRow="1">
                <a:tableStyleId>{5C22544A-7EE6-4342-B048-85BDC9FD1C3A}</a:tableStyleId>
              </a:tblPr>
              <a:tblGrid>
                <a:gridCol w="1733589">
                  <a:extLst>
                    <a:ext uri="{9D8B030D-6E8A-4147-A177-3AD203B41FA5}">
                      <a16:colId xmlns:a16="http://schemas.microsoft.com/office/drawing/2014/main" val="20000"/>
                    </a:ext>
                  </a:extLst>
                </a:gridCol>
                <a:gridCol w="3891545">
                  <a:extLst>
                    <a:ext uri="{9D8B030D-6E8A-4147-A177-3AD203B41FA5}">
                      <a16:colId xmlns:a16="http://schemas.microsoft.com/office/drawing/2014/main" val="20001"/>
                    </a:ext>
                  </a:extLst>
                </a:gridCol>
              </a:tblGrid>
              <a:tr h="239188">
                <a:tc>
                  <a:txBody>
                    <a:bodyPr/>
                    <a:lstStyle/>
                    <a:p>
                      <a:pPr algn="ctr">
                        <a:defRPr sz="1800" b="1">
                          <a:solidFill>
                            <a:srgbClr val="FFFFFF"/>
                          </a:solidFill>
                        </a:defRPr>
                      </a:pPr>
                      <a:r>
                        <a:rPr dirty="0">
                          <a:latin typeface="Times New Roman" panose="02020603050405020304" pitchFamily="18" charset="0"/>
                          <a:cs typeface="Times New Roman" panose="02020603050405020304" pitchFamily="18" charset="0"/>
                        </a:rPr>
                        <a:t>Metric</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Value</a:t>
                      </a:r>
                    </a:p>
                  </a:txBody>
                  <a:tcPr>
                    <a:solidFill>
                      <a:srgbClr val="00274C"/>
                    </a:solidFill>
                  </a:tcPr>
                </a:tc>
                <a:extLst>
                  <a:ext uri="{0D108BD9-81ED-4DB2-BD59-A6C34878D82A}">
                    <a16:rowId xmlns:a16="http://schemas.microsoft.com/office/drawing/2014/main" val="10000"/>
                  </a:ext>
                </a:extLst>
              </a:tr>
              <a:tr h="219255">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Dataset</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3 Public Figures</a:t>
                      </a:r>
                    </a:p>
                  </a:txBody>
                  <a:tcPr/>
                </a:tc>
                <a:extLst>
                  <a:ext uri="{0D108BD9-81ED-4DB2-BD59-A6C34878D82A}">
                    <a16:rowId xmlns:a16="http://schemas.microsoft.com/office/drawing/2014/main" val="10001"/>
                  </a:ext>
                </a:extLst>
              </a:tr>
              <a:tr h="219255">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Total Samples</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5,125 samples</a:t>
                      </a:r>
                    </a:p>
                  </a:txBody>
                  <a:tcPr>
                    <a:solidFill>
                      <a:srgbClr val="F2F2F2"/>
                    </a:solidFill>
                  </a:tcPr>
                </a:tc>
                <a:extLst>
                  <a:ext uri="{0D108BD9-81ED-4DB2-BD59-A6C34878D82A}">
                    <a16:rowId xmlns:a16="http://schemas.microsoft.com/office/drawing/2014/main" val="10002"/>
                  </a:ext>
                </a:extLst>
              </a:tr>
              <a:tr h="219255">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Speakers</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Trump (1,649), </a:t>
                      </a:r>
                      <a:r>
                        <a:rPr lang="en-US" dirty="0">
                          <a:latin typeface="Times New Roman" panose="02020603050405020304" pitchFamily="18" charset="0"/>
                          <a:cs typeface="Times New Roman" panose="02020603050405020304" pitchFamily="18" charset="0"/>
                        </a:rPr>
                        <a:t>Kamala</a:t>
                      </a:r>
                      <a:r>
                        <a:rPr dirty="0">
                          <a:latin typeface="Times New Roman" panose="02020603050405020304" pitchFamily="18" charset="0"/>
                          <a:cs typeface="Times New Roman" panose="02020603050405020304" pitchFamily="18" charset="0"/>
                        </a:rPr>
                        <a:t> (1,123), </a:t>
                      </a:r>
                      <a:r>
                        <a:rPr lang="en-US" dirty="0">
                          <a:latin typeface="Times New Roman" panose="02020603050405020304" pitchFamily="18" charset="0"/>
                          <a:cs typeface="Times New Roman" panose="02020603050405020304" pitchFamily="18" charset="0"/>
                        </a:rPr>
                        <a:t>Elon</a:t>
                      </a:r>
                      <a:r>
                        <a:rPr dirty="0">
                          <a:latin typeface="Times New Roman" panose="02020603050405020304" pitchFamily="18" charset="0"/>
                          <a:cs typeface="Times New Roman" panose="02020603050405020304" pitchFamily="18" charset="0"/>
                        </a:rPr>
                        <a:t> (2,353)</a:t>
                      </a:r>
                    </a:p>
                  </a:txBody>
                  <a:tcPr/>
                </a:tc>
                <a:extLst>
                  <a:ext uri="{0D108BD9-81ED-4DB2-BD59-A6C34878D82A}">
                    <a16:rowId xmlns:a16="http://schemas.microsoft.com/office/drawing/2014/main" val="10003"/>
                  </a:ext>
                </a:extLst>
              </a:tr>
              <a:tr h="219255">
                <a:tc>
                  <a:txBody>
                    <a:bodyPr/>
                    <a:lstStyle/>
                    <a:p>
                      <a:pPr algn="ctr">
                        <a:defRPr sz="1600" b="1">
                          <a:solidFill>
                            <a:srgbClr val="333333"/>
                          </a:solidFill>
                        </a:defRPr>
                      </a:pPr>
                      <a:r>
                        <a:rPr lang="en-US" dirty="0">
                          <a:latin typeface="Times New Roman" panose="02020603050405020304" pitchFamily="18" charset="0"/>
                          <a:cs typeface="Times New Roman" panose="02020603050405020304" pitchFamily="18" charset="0"/>
                        </a:rPr>
                        <a:t>Format</a:t>
                      </a:r>
                      <a:endParaRPr dirty="0">
                        <a:latin typeface="Times New Roman" panose="02020603050405020304" pitchFamily="18" charset="0"/>
                        <a:cs typeface="Times New Roman" panose="02020603050405020304" pitchFamily="18" charset="0"/>
                      </a:endParaRPr>
                    </a:p>
                  </a:txBody>
                  <a:tcPr/>
                </a:tc>
                <a:tc>
                  <a:txBody>
                    <a:bodyPr/>
                    <a:lstStyle/>
                    <a:p>
                      <a:pPr algn="ctr">
                        <a:defRPr sz="1600">
                          <a:solidFill>
                            <a:srgbClr val="333333"/>
                          </a:solidFill>
                        </a:defRPr>
                      </a:pPr>
                      <a:r>
                        <a:rPr lang="en-US" dirty="0">
                          <a:latin typeface="Times New Roman" panose="02020603050405020304" pitchFamily="18" charset="0"/>
                          <a:cs typeface="Times New Roman" panose="02020603050405020304" pitchFamily="18" charset="0"/>
                        </a:rPr>
                        <a:t>.wav</a:t>
                      </a:r>
                      <a:endParaRP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graphicFrame>
        <p:nvGraphicFramePr>
          <p:cNvPr id="8" name="Table 7">
            <a:extLst>
              <a:ext uri="{FF2B5EF4-FFF2-40B4-BE49-F238E27FC236}">
                <a16:creationId xmlns:a16="http://schemas.microsoft.com/office/drawing/2014/main" id="{23D0381B-C6AC-A2C8-BBD0-14FECF9890CF}"/>
              </a:ext>
            </a:extLst>
          </p:cNvPr>
          <p:cNvGraphicFramePr>
            <a:graphicFrameLocks noGrp="1"/>
          </p:cNvGraphicFramePr>
          <p:nvPr>
            <p:extLst>
              <p:ext uri="{D42A27DB-BD31-4B8C-83A1-F6EECF244321}">
                <p14:modId xmlns:p14="http://schemas.microsoft.com/office/powerpoint/2010/main" val="1744463056"/>
              </p:ext>
            </p:extLst>
          </p:nvPr>
        </p:nvGraphicFramePr>
        <p:xfrm>
          <a:off x="1904302" y="4284761"/>
          <a:ext cx="9058428" cy="1507615"/>
        </p:xfrm>
        <a:graphic>
          <a:graphicData uri="http://schemas.openxmlformats.org/drawingml/2006/table">
            <a:tbl>
              <a:tblPr firstRow="1" bandRow="1">
                <a:tableStyleId>{5C22544A-7EE6-4342-B048-85BDC9FD1C3A}</a:tableStyleId>
              </a:tblPr>
              <a:tblGrid>
                <a:gridCol w="4529214">
                  <a:extLst>
                    <a:ext uri="{9D8B030D-6E8A-4147-A177-3AD203B41FA5}">
                      <a16:colId xmlns:a16="http://schemas.microsoft.com/office/drawing/2014/main" val="20000"/>
                    </a:ext>
                  </a:extLst>
                </a:gridCol>
                <a:gridCol w="4529214">
                  <a:extLst>
                    <a:ext uri="{9D8B030D-6E8A-4147-A177-3AD203B41FA5}">
                      <a16:colId xmlns:a16="http://schemas.microsoft.com/office/drawing/2014/main" val="20001"/>
                    </a:ext>
                  </a:extLst>
                </a:gridCol>
              </a:tblGrid>
              <a:tr h="301523">
                <a:tc>
                  <a:txBody>
                    <a:bodyPr/>
                    <a:lstStyle/>
                    <a:p>
                      <a:pPr marL="0" algn="ctr" defTabSz="457200" rtl="0" eaLnBrk="1" latinLnBrk="0" hangingPunct="1">
                        <a:buNone/>
                        <a:defRPr sz="1600" b="1">
                          <a:solidFill>
                            <a:srgbClr val="333333"/>
                          </a:solidFill>
                        </a:defRPr>
                      </a:pPr>
                      <a:r>
                        <a:rPr lang="en-US" sz="1600" b="1" kern="1200" dirty="0">
                          <a:solidFill>
                            <a:schemeClr val="bg1"/>
                          </a:solidFill>
                          <a:latin typeface="Times New Roman" panose="02020603050405020304" pitchFamily="18" charset="0"/>
                          <a:ea typeface="+mn-ea"/>
                          <a:cs typeface="Times New Roman" panose="02020603050405020304" pitchFamily="18" charset="0"/>
                        </a:rPr>
                        <a:t>Metric</a:t>
                      </a:r>
                    </a:p>
                  </a:txBody>
                  <a:tcPr marL="15240" marR="15240" marT="15240" marB="15240" anchor="ctr">
                    <a:solidFill>
                      <a:srgbClr val="00274C"/>
                    </a:solidFill>
                  </a:tcPr>
                </a:tc>
                <a:tc>
                  <a:txBody>
                    <a:bodyPr/>
                    <a:lstStyle/>
                    <a:p>
                      <a:pPr marL="0" algn="ctr" defTabSz="457200" rtl="0" eaLnBrk="1" latinLnBrk="0" hangingPunct="1">
                        <a:buNone/>
                        <a:defRPr sz="1600" b="1">
                          <a:solidFill>
                            <a:srgbClr val="333333"/>
                          </a:solidFill>
                        </a:defRPr>
                      </a:pPr>
                      <a:r>
                        <a:rPr lang="en-US" sz="1600" b="1" kern="1200" dirty="0">
                          <a:solidFill>
                            <a:schemeClr val="bg1"/>
                          </a:solidFill>
                          <a:latin typeface="Times New Roman" panose="02020603050405020304" pitchFamily="18" charset="0"/>
                          <a:ea typeface="+mn-ea"/>
                          <a:cs typeface="Times New Roman" panose="02020603050405020304" pitchFamily="18" charset="0"/>
                        </a:rPr>
                        <a:t>Value</a:t>
                      </a:r>
                    </a:p>
                  </a:txBody>
                  <a:tcPr marL="15240" marR="15240" marT="15240" marB="15240" anchor="ctr">
                    <a:solidFill>
                      <a:srgbClr val="00274C"/>
                    </a:solidFill>
                  </a:tcPr>
                </a:tc>
                <a:extLst>
                  <a:ext uri="{0D108BD9-81ED-4DB2-BD59-A6C34878D82A}">
                    <a16:rowId xmlns:a16="http://schemas.microsoft.com/office/drawing/2014/main" val="10000"/>
                  </a:ext>
                </a:extLst>
              </a:tr>
              <a:tr h="301523">
                <a:tc>
                  <a:txBody>
                    <a:bodyPr/>
                    <a:lstStyle/>
                    <a:p>
                      <a:pPr marL="0" algn="ctr" defTabSz="457200" rtl="0" eaLnBrk="1" latinLnBrk="0" hangingPunct="1">
                        <a:buNone/>
                        <a:defRPr sz="1600" b="1">
                          <a:solidFill>
                            <a:srgbClr val="333333"/>
                          </a:solidFill>
                        </a:defRPr>
                      </a:pPr>
                      <a:r>
                        <a:rPr lang="en-US" sz="1600" b="1" kern="1200" dirty="0">
                          <a:solidFill>
                            <a:srgbClr val="333333"/>
                          </a:solidFill>
                          <a:latin typeface="Times New Roman" panose="02020603050405020304" pitchFamily="18" charset="0"/>
                          <a:ea typeface="+mn-ea"/>
                          <a:cs typeface="Times New Roman" panose="02020603050405020304" pitchFamily="18" charset="0"/>
                        </a:rPr>
                        <a:t>Dataset</a:t>
                      </a:r>
                    </a:p>
                  </a:txBody>
                  <a:tcPr marL="15240" marR="15240" marT="15240" marB="15240" anchor="ctr"/>
                </a:tc>
                <a:tc>
                  <a:txBody>
                    <a:bodyPr/>
                    <a:lstStyle/>
                    <a:p>
                      <a:pPr marL="0" algn="ctr" defTabSz="457200" rtl="0" eaLnBrk="1" latinLnBrk="0" hangingPunct="1">
                        <a:buNone/>
                        <a:defRPr sz="1600" b="1">
                          <a:solidFill>
                            <a:srgbClr val="333333"/>
                          </a:solidFill>
                        </a:defRPr>
                      </a:pPr>
                      <a:r>
                        <a:rPr lang="en-US" sz="1600" b="0" kern="1200" dirty="0">
                          <a:solidFill>
                            <a:srgbClr val="333333"/>
                          </a:solidFill>
                          <a:latin typeface="Times New Roman" panose="02020603050405020304" pitchFamily="18" charset="0"/>
                          <a:ea typeface="+mn-ea"/>
                          <a:cs typeface="Times New Roman" panose="02020603050405020304" pitchFamily="18" charset="0"/>
                        </a:rPr>
                        <a:t>3 Team Members (Custom Dataset)</a:t>
                      </a:r>
                    </a:p>
                  </a:txBody>
                  <a:tcPr marL="15240" marR="15240" marT="15240" marB="15240" anchor="ctr"/>
                </a:tc>
                <a:extLst>
                  <a:ext uri="{0D108BD9-81ED-4DB2-BD59-A6C34878D82A}">
                    <a16:rowId xmlns:a16="http://schemas.microsoft.com/office/drawing/2014/main" val="10001"/>
                  </a:ext>
                </a:extLst>
              </a:tr>
              <a:tr h="301523">
                <a:tc>
                  <a:txBody>
                    <a:bodyPr/>
                    <a:lstStyle/>
                    <a:p>
                      <a:pPr marL="0" algn="ctr" defTabSz="457200" rtl="0" eaLnBrk="1" latinLnBrk="0" hangingPunct="1">
                        <a:buNone/>
                        <a:defRPr sz="1600" b="1">
                          <a:solidFill>
                            <a:srgbClr val="333333"/>
                          </a:solidFill>
                        </a:defRPr>
                      </a:pPr>
                      <a:r>
                        <a:rPr lang="en-US" sz="1600" b="1" kern="1200">
                          <a:solidFill>
                            <a:srgbClr val="333333"/>
                          </a:solidFill>
                          <a:latin typeface="Times New Roman" panose="02020603050405020304" pitchFamily="18" charset="0"/>
                          <a:ea typeface="+mn-ea"/>
                          <a:cs typeface="Times New Roman" panose="02020603050405020304" pitchFamily="18" charset="0"/>
                        </a:rPr>
                        <a:t>Total Samples</a:t>
                      </a:r>
                    </a:p>
                  </a:txBody>
                  <a:tcPr marL="15240" marR="15240" marT="15240" marB="15240" anchor="ctr">
                    <a:solidFill>
                      <a:srgbClr val="F2F2F2"/>
                    </a:solidFill>
                  </a:tcPr>
                </a:tc>
                <a:tc>
                  <a:txBody>
                    <a:bodyPr/>
                    <a:lstStyle/>
                    <a:p>
                      <a:pPr marL="0" algn="ctr" defTabSz="457200" rtl="0" eaLnBrk="1" latinLnBrk="0" hangingPunct="1">
                        <a:buNone/>
                        <a:defRPr sz="1600" b="1">
                          <a:solidFill>
                            <a:srgbClr val="333333"/>
                          </a:solidFill>
                        </a:defRPr>
                      </a:pPr>
                      <a:r>
                        <a:rPr lang="en-US" sz="1600" b="0" kern="1200">
                          <a:solidFill>
                            <a:srgbClr val="333333"/>
                          </a:solidFill>
                          <a:latin typeface="Times New Roman" panose="02020603050405020304" pitchFamily="18" charset="0"/>
                          <a:ea typeface="+mn-ea"/>
                          <a:cs typeface="Times New Roman" panose="02020603050405020304" pitchFamily="18" charset="0"/>
                        </a:rPr>
                        <a:t>3,507 samples</a:t>
                      </a:r>
                    </a:p>
                  </a:txBody>
                  <a:tcPr marL="15240" marR="15240" marT="15240" marB="15240" anchor="ctr">
                    <a:solidFill>
                      <a:srgbClr val="F2F2F2"/>
                    </a:solidFill>
                  </a:tcPr>
                </a:tc>
                <a:extLst>
                  <a:ext uri="{0D108BD9-81ED-4DB2-BD59-A6C34878D82A}">
                    <a16:rowId xmlns:a16="http://schemas.microsoft.com/office/drawing/2014/main" val="10002"/>
                  </a:ext>
                </a:extLst>
              </a:tr>
              <a:tr h="301523">
                <a:tc>
                  <a:txBody>
                    <a:bodyPr/>
                    <a:lstStyle/>
                    <a:p>
                      <a:pPr marL="0" algn="ctr" defTabSz="457200" rtl="0" eaLnBrk="1" latinLnBrk="0" hangingPunct="1">
                        <a:buNone/>
                        <a:defRPr sz="1600" b="1">
                          <a:solidFill>
                            <a:srgbClr val="333333"/>
                          </a:solidFill>
                        </a:defRPr>
                      </a:pPr>
                      <a:r>
                        <a:rPr lang="en-US" sz="1600" b="1" kern="1200">
                          <a:solidFill>
                            <a:srgbClr val="333333"/>
                          </a:solidFill>
                          <a:latin typeface="Times New Roman" panose="02020603050405020304" pitchFamily="18" charset="0"/>
                          <a:ea typeface="+mn-ea"/>
                          <a:cs typeface="Times New Roman" panose="02020603050405020304" pitchFamily="18" charset="0"/>
                        </a:rPr>
                        <a:t>Speakers</a:t>
                      </a:r>
                    </a:p>
                  </a:txBody>
                  <a:tcPr marL="15240" marR="15240" marT="15240" marB="15240" anchor="ctr"/>
                </a:tc>
                <a:tc>
                  <a:txBody>
                    <a:bodyPr/>
                    <a:lstStyle/>
                    <a:p>
                      <a:pPr marL="0" algn="ctr" defTabSz="457200" rtl="0" eaLnBrk="1" latinLnBrk="0" hangingPunct="1">
                        <a:buNone/>
                        <a:defRPr sz="1600" b="1">
                          <a:solidFill>
                            <a:srgbClr val="333333"/>
                          </a:solidFill>
                        </a:defRPr>
                      </a:pPr>
                      <a:r>
                        <a:rPr lang="en-US" sz="1600" b="0" kern="1200">
                          <a:solidFill>
                            <a:srgbClr val="333333"/>
                          </a:solidFill>
                          <a:latin typeface="Times New Roman" panose="02020603050405020304" pitchFamily="18" charset="0"/>
                          <a:ea typeface="+mn-ea"/>
                          <a:cs typeface="Times New Roman" panose="02020603050405020304" pitchFamily="18" charset="0"/>
                        </a:rPr>
                        <a:t>Abbas (1,149), Hesham (1,158), Shravya (1,200)</a:t>
                      </a:r>
                    </a:p>
                  </a:txBody>
                  <a:tcPr marL="15240" marR="15240" marT="15240" marB="15240" anchor="ctr"/>
                </a:tc>
                <a:extLst>
                  <a:ext uri="{0D108BD9-81ED-4DB2-BD59-A6C34878D82A}">
                    <a16:rowId xmlns:a16="http://schemas.microsoft.com/office/drawing/2014/main" val="10003"/>
                  </a:ext>
                </a:extLst>
              </a:tr>
              <a:tr h="301523">
                <a:tc>
                  <a:txBody>
                    <a:bodyPr/>
                    <a:lstStyle/>
                    <a:p>
                      <a:pPr marL="0" algn="ctr" defTabSz="457200" rtl="0" eaLnBrk="1" latinLnBrk="0" hangingPunct="1">
                        <a:buNone/>
                        <a:defRPr sz="1600" b="1">
                          <a:solidFill>
                            <a:srgbClr val="333333"/>
                          </a:solidFill>
                        </a:defRPr>
                      </a:pPr>
                      <a:r>
                        <a:rPr lang="en-US" sz="1600" b="1" kern="1200">
                          <a:solidFill>
                            <a:srgbClr val="333333"/>
                          </a:solidFill>
                          <a:latin typeface="Times New Roman" panose="02020603050405020304" pitchFamily="18" charset="0"/>
                          <a:ea typeface="+mn-ea"/>
                          <a:cs typeface="Times New Roman" panose="02020603050405020304" pitchFamily="18" charset="0"/>
                        </a:rPr>
                        <a:t>Format</a:t>
                      </a:r>
                    </a:p>
                  </a:txBody>
                  <a:tcPr marL="15240" marR="15240" marT="15240" marB="15240" anchor="ctr"/>
                </a:tc>
                <a:tc>
                  <a:txBody>
                    <a:bodyPr/>
                    <a:lstStyle/>
                    <a:p>
                      <a:pPr marL="0" algn="ctr" defTabSz="457200" rtl="0" eaLnBrk="1" latinLnBrk="0" hangingPunct="1">
                        <a:buNone/>
                        <a:defRPr sz="1600" b="1">
                          <a:solidFill>
                            <a:srgbClr val="333333"/>
                          </a:solidFill>
                        </a:defRPr>
                      </a:pPr>
                      <a:r>
                        <a:rPr lang="en-US" sz="1600" b="0" kern="1200" dirty="0">
                          <a:solidFill>
                            <a:srgbClr val="333333"/>
                          </a:solidFill>
                          <a:latin typeface="Times New Roman" panose="02020603050405020304" pitchFamily="18" charset="0"/>
                          <a:ea typeface="+mn-ea"/>
                          <a:cs typeface="Times New Roman" panose="02020603050405020304" pitchFamily="18" charset="0"/>
                        </a:rPr>
                        <a:t>.wav</a:t>
                      </a:r>
                    </a:p>
                  </a:txBody>
                  <a:tcPr marL="15240" marR="15240" marT="15240" marB="15240" anchor="ctr"/>
                </a:tc>
                <a:extLst>
                  <a:ext uri="{0D108BD9-81ED-4DB2-BD59-A6C34878D82A}">
                    <a16:rowId xmlns:a16="http://schemas.microsoft.com/office/drawing/2014/main" val="10007"/>
                  </a:ext>
                </a:extLst>
              </a:tr>
            </a:tbl>
          </a:graphicData>
        </a:graphic>
      </p:graphicFrame>
      <p:sp>
        <p:nvSpPr>
          <p:cNvPr id="11" name="TextBox 10">
            <a:extLst>
              <a:ext uri="{FF2B5EF4-FFF2-40B4-BE49-F238E27FC236}">
                <a16:creationId xmlns:a16="http://schemas.microsoft.com/office/drawing/2014/main" id="{B2FFA097-F438-68C0-00C1-DCD65DE0D268}"/>
              </a:ext>
            </a:extLst>
          </p:cNvPr>
          <p:cNvSpPr txBox="1"/>
          <p:nvPr/>
        </p:nvSpPr>
        <p:spPr>
          <a:xfrm>
            <a:off x="8135267" y="1632317"/>
            <a:ext cx="2221634" cy="338554"/>
          </a:xfrm>
          <a:prstGeom prst="rect">
            <a:avLst/>
          </a:prstGeom>
          <a:noFill/>
        </p:spPr>
        <p:txBody>
          <a:bodyPr wrap="none">
            <a:spAutoFit/>
          </a:bodyPr>
          <a:lstStyle/>
          <a:p>
            <a:pPr algn="ctr">
              <a:defRPr sz="1600" i="1">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Table.2 </a:t>
            </a:r>
            <a:r>
              <a:rPr lang="en-US" b="1" dirty="0" err="1">
                <a:solidFill>
                  <a:schemeClr val="tx1">
                    <a:lumMod val="95000"/>
                    <a:lumOff val="5000"/>
                  </a:schemeClr>
                </a:solidFill>
                <a:latin typeface="Times New Roman" panose="02020603050405020304" pitchFamily="18" charset="0"/>
                <a:cs typeface="Times New Roman" panose="02020603050405020304" pitchFamily="18" charset="0"/>
              </a:rPr>
              <a:t>Youtube</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 Dataset</a:t>
            </a:r>
            <a:endParaRPr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DD7842C-9061-6EFB-0A9B-160856275779}"/>
              </a:ext>
            </a:extLst>
          </p:cNvPr>
          <p:cNvSpPr txBox="1"/>
          <p:nvPr/>
        </p:nvSpPr>
        <p:spPr>
          <a:xfrm>
            <a:off x="5337512" y="3946207"/>
            <a:ext cx="2192011" cy="338554"/>
          </a:xfrm>
          <a:prstGeom prst="rect">
            <a:avLst/>
          </a:prstGeom>
          <a:noFill/>
        </p:spPr>
        <p:txBody>
          <a:bodyPr wrap="none">
            <a:spAutoFit/>
          </a:bodyPr>
          <a:lstStyle/>
          <a:p>
            <a:pPr algn="ctr">
              <a:defRPr sz="1600" i="1">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Table.3 Custom Dataset</a:t>
            </a:r>
            <a:endParaRPr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37479-9C93-9795-5ACA-DEE3125C20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C49F874-D8D2-2E74-7C2D-E42657A06ABD}"/>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B17FE329-EE23-E729-951C-97C9C88EA925}"/>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AD259B-99A7-C51E-39DF-FDAE9B474504}"/>
              </a:ext>
            </a:extLst>
          </p:cNvPr>
          <p:cNvSpPr txBox="1"/>
          <p:nvPr/>
        </p:nvSpPr>
        <p:spPr>
          <a:xfrm>
            <a:off x="457200" y="320040"/>
            <a:ext cx="2769861"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Pre-processing</a:t>
            </a:r>
            <a:endParaRPr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CF390CD-6EE7-C309-CA15-20276CA70494}"/>
              </a:ext>
            </a:extLst>
          </p:cNvPr>
          <p:cNvSpPr txBox="1"/>
          <p:nvPr/>
        </p:nvSpPr>
        <p:spPr>
          <a:xfrm>
            <a:off x="457200" y="1374151"/>
            <a:ext cx="11002975" cy="5200270"/>
          </a:xfrm>
          <a:prstGeom prst="rect">
            <a:avLst/>
          </a:prstGeom>
          <a:noFill/>
        </p:spPr>
        <p:txBody>
          <a:bodyPr wrap="square">
            <a:spAutoFit/>
          </a:bodyPr>
          <a:lstStyle/>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Download datasets from Kaggle, and YouTube.</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Record custom datasets for team members.</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Extract audio tracks (typically MP3 format) </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Convert to WAV (uncompressed) format </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Segment into 1-second chunks using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PyDub</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library</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Filter out chunks with only applause, silence or music</a:t>
            </a:r>
          </a:p>
          <a:p>
            <a:pPr marL="457200" indent="-457200">
              <a:lnSpc>
                <a:spcPct val="130000"/>
              </a:lnSpc>
              <a:spcBef>
                <a:spcPts val="1200"/>
              </a:spcBef>
              <a:buAutoNum type="arabicPeriod"/>
              <a:defRPr sz="2000">
                <a:solidFill>
                  <a:srgbClr val="666666"/>
                </a:solidFill>
              </a:defRPr>
            </a:pP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Discard chunks with overlapping speech from multiple speakers</a:t>
            </a:r>
          </a:p>
          <a:p>
            <a:pPr>
              <a:lnSpc>
                <a:spcPct val="130000"/>
              </a:lnSpc>
              <a:spcBef>
                <a:spcPts val="1200"/>
              </a:spcBef>
              <a:defRPr sz="2000">
                <a:solidFill>
                  <a:srgbClr val="666666"/>
                </a:solidFill>
              </a:defRPr>
            </a:pPr>
            <a:r>
              <a:rPr lang="en-US" b="1" dirty="0">
                <a:solidFill>
                  <a:srgbClr val="002060"/>
                </a:solidFill>
                <a:latin typeface="Times New Roman" panose="02020603050405020304" pitchFamily="18" charset="0"/>
                <a:cs typeface="Times New Roman" panose="02020603050405020304" pitchFamily="18" charset="0"/>
              </a:rPr>
              <a:t>Data organization:</a:t>
            </a:r>
          </a:p>
          <a:p>
            <a:pPr>
              <a:lnSpc>
                <a:spcPct val="130000"/>
              </a:lnSpc>
              <a:spcBef>
                <a:spcPts val="1200"/>
              </a:spcBef>
              <a:defRPr sz="2000">
                <a:solidFill>
                  <a:srgbClr val="666666"/>
                </a:solidFill>
              </a:defRP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Training Set: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70% of data for model parameter optimization</a:t>
            </a:r>
          </a:p>
          <a:p>
            <a:pPr>
              <a:lnSpc>
                <a:spcPct val="130000"/>
              </a:lnSpc>
              <a:spcBef>
                <a:spcPts val="1200"/>
              </a:spcBef>
              <a:defRPr sz="2000">
                <a:solidFill>
                  <a:srgbClr val="666666"/>
                </a:solidFill>
              </a:defRP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Validation Set: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15% for hyperparameter tuning and early stopping decisions</a:t>
            </a:r>
          </a:p>
          <a:p>
            <a:pPr>
              <a:lnSpc>
                <a:spcPct val="130000"/>
              </a:lnSpc>
              <a:spcBef>
                <a:spcPts val="1200"/>
              </a:spcBef>
              <a:defRPr sz="2000">
                <a:solidFill>
                  <a:srgbClr val="666666"/>
                </a:solidFill>
              </a:defRP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Test Set: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15% held out completely for final performance evaluation</a:t>
            </a:r>
          </a:p>
        </p:txBody>
      </p:sp>
      <p:pic>
        <p:nvPicPr>
          <p:cNvPr id="13" name="Picture 12" descr="A diagram of a speech data processing process&#10;&#10;AI-generated content may be incorrect.">
            <a:extLst>
              <a:ext uri="{FF2B5EF4-FFF2-40B4-BE49-F238E27FC236}">
                <a16:creationId xmlns:a16="http://schemas.microsoft.com/office/drawing/2014/main" id="{ECC6F935-4366-FA1F-64D3-EF4254B58D2F}"/>
              </a:ext>
            </a:extLst>
          </p:cNvPr>
          <p:cNvPicPr>
            <a:picLocks noChangeAspect="1"/>
          </p:cNvPicPr>
          <p:nvPr/>
        </p:nvPicPr>
        <p:blipFill>
          <a:blip r:embed="rId2"/>
          <a:stretch>
            <a:fillRect/>
          </a:stretch>
        </p:blipFill>
        <p:spPr>
          <a:xfrm>
            <a:off x="6691378" y="1960305"/>
            <a:ext cx="5183122" cy="3252625"/>
          </a:xfrm>
          <a:prstGeom prst="rect">
            <a:avLst/>
          </a:prstGeom>
        </p:spPr>
      </p:pic>
    </p:spTree>
    <p:extLst>
      <p:ext uri="{BB962C8B-B14F-4D97-AF65-F5344CB8AC3E}">
        <p14:creationId xmlns:p14="http://schemas.microsoft.com/office/powerpoint/2010/main" val="2172179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3490E-3205-FEE2-ED24-38C26981E5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D62439-6CB7-F1CA-8FEE-C2B0258CAB25}"/>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9F41910-CDAF-892B-AD5C-4A57612DAE77}"/>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2AE65E9-5006-FBB3-1832-C156409E5D52}"/>
              </a:ext>
            </a:extLst>
          </p:cNvPr>
          <p:cNvSpPr txBox="1"/>
          <p:nvPr/>
        </p:nvSpPr>
        <p:spPr>
          <a:xfrm>
            <a:off x="457200" y="320040"/>
            <a:ext cx="2486578"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p:txBody>
      </p:sp>
      <p:pic>
        <p:nvPicPr>
          <p:cNvPr id="6" name="Picture 5" descr="A diagram of a process&#10;&#10;AI-generated content may be incorrect.">
            <a:extLst>
              <a:ext uri="{FF2B5EF4-FFF2-40B4-BE49-F238E27FC236}">
                <a16:creationId xmlns:a16="http://schemas.microsoft.com/office/drawing/2014/main" id="{B52FCD6A-9D05-9EC0-3025-3F251F564780}"/>
              </a:ext>
            </a:extLst>
          </p:cNvPr>
          <p:cNvPicPr>
            <a:picLocks noChangeAspect="1"/>
          </p:cNvPicPr>
          <p:nvPr/>
        </p:nvPicPr>
        <p:blipFill>
          <a:blip r:embed="rId2"/>
          <a:stretch>
            <a:fillRect/>
          </a:stretch>
        </p:blipFill>
        <p:spPr>
          <a:xfrm>
            <a:off x="1653734" y="1729399"/>
            <a:ext cx="9433365" cy="4911429"/>
          </a:xfrm>
          <a:prstGeom prst="rect">
            <a:avLst/>
          </a:prstGeom>
        </p:spPr>
      </p:pic>
    </p:spTree>
    <p:extLst>
      <p:ext uri="{BB962C8B-B14F-4D97-AF65-F5344CB8AC3E}">
        <p14:creationId xmlns:p14="http://schemas.microsoft.com/office/powerpoint/2010/main" val="3232416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FE10-87ED-DC21-CF75-6B98B53A9C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29E34D-DA6C-32DD-C13D-D1E43CB7F3BE}"/>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C8689CE-F2D3-152E-ED5B-7A0357C8D8F4}"/>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0D73AFF-A442-1B7F-B789-50416137EFB8}"/>
              </a:ext>
            </a:extLst>
          </p:cNvPr>
          <p:cNvSpPr txBox="1"/>
          <p:nvPr/>
        </p:nvSpPr>
        <p:spPr>
          <a:xfrm>
            <a:off x="457200" y="320040"/>
            <a:ext cx="3704219"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Model Architecture </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C2E90DC-ED5A-066A-D844-6F4F61A1A190}"/>
              </a:ext>
            </a:extLst>
          </p:cNvPr>
          <p:cNvSpPr txBox="1"/>
          <p:nvPr/>
        </p:nvSpPr>
        <p:spPr>
          <a:xfrm>
            <a:off x="457201" y="1477664"/>
            <a:ext cx="5867400" cy="440120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LSTM Model Architecture (Speaker Recognition)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Input (MFCC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32×13 MFCC matrices capture short-term spectral characteristics of speech.</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LSTM + Dense Layers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LSTM (128 units) learns temporal speaker patterns; Dense layer (64 units,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refines speaker-discriminative features.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Output (SoftMax)</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Produces probability scores for each speaker class to identify the speaker.</a:t>
            </a:r>
          </a:p>
        </p:txBody>
      </p:sp>
      <p:pic>
        <p:nvPicPr>
          <p:cNvPr id="8" name="Picture 7">
            <a:extLst>
              <a:ext uri="{FF2B5EF4-FFF2-40B4-BE49-F238E27FC236}">
                <a16:creationId xmlns:a16="http://schemas.microsoft.com/office/drawing/2014/main" id="{2D8F6EF6-E24E-5425-3E0C-7D831CCB9421}"/>
              </a:ext>
            </a:extLst>
          </p:cNvPr>
          <p:cNvPicPr>
            <a:picLocks noChangeAspect="1"/>
          </p:cNvPicPr>
          <p:nvPr/>
        </p:nvPicPr>
        <p:blipFill>
          <a:blip r:embed="rId2"/>
          <a:srcRect t="17334" b="25000"/>
          <a:stretch>
            <a:fillRect/>
          </a:stretch>
        </p:blipFill>
        <p:spPr>
          <a:xfrm>
            <a:off x="5689600" y="2364312"/>
            <a:ext cx="6375400" cy="2450987"/>
          </a:xfrm>
          <a:prstGeom prst="rect">
            <a:avLst/>
          </a:prstGeom>
        </p:spPr>
      </p:pic>
    </p:spTree>
    <p:extLst>
      <p:ext uri="{BB962C8B-B14F-4D97-AF65-F5344CB8AC3E}">
        <p14:creationId xmlns:p14="http://schemas.microsoft.com/office/powerpoint/2010/main" val="357937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AC104-99B9-1A37-346D-F43D0E9025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6BF48C-C15A-1B59-ADAF-6C4C71CE301F}"/>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0C686AB-EB8A-633C-FDEB-D5846D452FEC}"/>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B90890-0DE0-1C82-8549-B60EAD6002B8}"/>
              </a:ext>
            </a:extLst>
          </p:cNvPr>
          <p:cNvSpPr txBox="1"/>
          <p:nvPr/>
        </p:nvSpPr>
        <p:spPr>
          <a:xfrm>
            <a:off x="457200" y="320040"/>
            <a:ext cx="10963451"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Phase 1-2: Kaggle and YouTube Dataset Performance Metrics</a:t>
            </a:r>
            <a:endParaRPr dirty="0">
              <a:latin typeface="Times New Roman" panose="02020603050405020304" pitchFamily="18" charset="0"/>
              <a:cs typeface="Times New Roman" panose="02020603050405020304" pitchFamily="18" charset="0"/>
            </a:endParaRPr>
          </a:p>
        </p:txBody>
      </p:sp>
      <p:pic>
        <p:nvPicPr>
          <p:cNvPr id="9" name="Picture 8" descr="A table with numbers and text&#10;&#10;AI-generated content may be incorrect.">
            <a:extLst>
              <a:ext uri="{FF2B5EF4-FFF2-40B4-BE49-F238E27FC236}">
                <a16:creationId xmlns:a16="http://schemas.microsoft.com/office/drawing/2014/main" id="{0264014C-A619-023E-9E75-7CBF2D12852E}"/>
              </a:ext>
            </a:extLst>
          </p:cNvPr>
          <p:cNvPicPr>
            <a:picLocks noChangeAspect="1"/>
          </p:cNvPicPr>
          <p:nvPr/>
        </p:nvPicPr>
        <p:blipFill>
          <a:blip r:embed="rId2"/>
          <a:stretch>
            <a:fillRect/>
          </a:stretch>
        </p:blipFill>
        <p:spPr>
          <a:xfrm>
            <a:off x="728243" y="3595286"/>
            <a:ext cx="5570957" cy="2304310"/>
          </a:xfrm>
          <a:prstGeom prst="rect">
            <a:avLst/>
          </a:prstGeom>
        </p:spPr>
      </p:pic>
      <p:pic>
        <p:nvPicPr>
          <p:cNvPr id="11" name="Picture 10" descr="A screenshot of a data sheet&#10;&#10;AI-generated content may be incorrect.">
            <a:extLst>
              <a:ext uri="{FF2B5EF4-FFF2-40B4-BE49-F238E27FC236}">
                <a16:creationId xmlns:a16="http://schemas.microsoft.com/office/drawing/2014/main" id="{7DFE1949-5920-147A-68E5-934A0B11C923}"/>
              </a:ext>
            </a:extLst>
          </p:cNvPr>
          <p:cNvPicPr>
            <a:picLocks noChangeAspect="1"/>
          </p:cNvPicPr>
          <p:nvPr/>
        </p:nvPicPr>
        <p:blipFill>
          <a:blip r:embed="rId3"/>
          <a:stretch>
            <a:fillRect/>
          </a:stretch>
        </p:blipFill>
        <p:spPr>
          <a:xfrm>
            <a:off x="6299201" y="3554052"/>
            <a:ext cx="5422900" cy="2386778"/>
          </a:xfrm>
          <a:prstGeom prst="rect">
            <a:avLst/>
          </a:prstGeom>
        </p:spPr>
      </p:pic>
      <p:sp>
        <p:nvSpPr>
          <p:cNvPr id="13" name="TextBox 12">
            <a:extLst>
              <a:ext uri="{FF2B5EF4-FFF2-40B4-BE49-F238E27FC236}">
                <a16:creationId xmlns:a16="http://schemas.microsoft.com/office/drawing/2014/main" id="{8964A2A4-D0A0-FD80-C143-A3C99FC7D1B0}"/>
              </a:ext>
            </a:extLst>
          </p:cNvPr>
          <p:cNvSpPr txBox="1"/>
          <p:nvPr/>
        </p:nvSpPr>
        <p:spPr>
          <a:xfrm>
            <a:off x="728242" y="1582420"/>
            <a:ext cx="10612857"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To validate our MFCC+LSTM implementation before collecting custom data,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began with a publicly available Kaggle, YouTube dataset containing 1-second audio clips from prominent public figures:</a:t>
            </a:r>
          </a:p>
        </p:txBody>
      </p:sp>
    </p:spTree>
    <p:extLst>
      <p:ext uri="{BB962C8B-B14F-4D97-AF65-F5344CB8AC3E}">
        <p14:creationId xmlns:p14="http://schemas.microsoft.com/office/powerpoint/2010/main" val="3021953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8706807"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Detailed Training Metrics</a:t>
            </a:r>
            <a:r>
              <a:rPr lang="en-US" dirty="0">
                <a:latin typeface="Times New Roman" panose="02020603050405020304" pitchFamily="18" charset="0"/>
                <a:cs typeface="Times New Roman" panose="02020603050405020304" pitchFamily="18" charset="0"/>
              </a:rPr>
              <a:t> about Custom Dataset</a:t>
            </a:r>
            <a:endParaRPr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641490" y="1463040"/>
            <a:ext cx="4908716"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High validation accuracy masked fundamental problem</a:t>
            </a:r>
          </a:p>
        </p:txBody>
      </p:sp>
      <p:graphicFrame>
        <p:nvGraphicFramePr>
          <p:cNvPr id="6" name="Table 5"/>
          <p:cNvGraphicFramePr>
            <a:graphicFrameLocks noGrp="1"/>
          </p:cNvGraphicFramePr>
          <p:nvPr>
            <p:extLst>
              <p:ext uri="{D42A27DB-BD31-4B8C-83A1-F6EECF244321}">
                <p14:modId xmlns:p14="http://schemas.microsoft.com/office/powerpoint/2010/main" val="2629273125"/>
              </p:ext>
            </p:extLst>
          </p:nvPr>
        </p:nvGraphicFramePr>
        <p:xfrm>
          <a:off x="1523847" y="1993900"/>
          <a:ext cx="8852054" cy="4452620"/>
        </p:xfrm>
        <a:graphic>
          <a:graphicData uri="http://schemas.openxmlformats.org/drawingml/2006/table">
            <a:tbl>
              <a:tblPr firstRow="1" bandRow="1">
                <a:tableStyleId>{5C22544A-7EE6-4342-B048-85BDC9FD1C3A}</a:tableStyleId>
              </a:tblPr>
              <a:tblGrid>
                <a:gridCol w="4426027">
                  <a:extLst>
                    <a:ext uri="{9D8B030D-6E8A-4147-A177-3AD203B41FA5}">
                      <a16:colId xmlns:a16="http://schemas.microsoft.com/office/drawing/2014/main" val="20000"/>
                    </a:ext>
                  </a:extLst>
                </a:gridCol>
                <a:gridCol w="4426027">
                  <a:extLst>
                    <a:ext uri="{9D8B030D-6E8A-4147-A177-3AD203B41FA5}">
                      <a16:colId xmlns:a16="http://schemas.microsoft.com/office/drawing/2014/main" val="20001"/>
                    </a:ext>
                  </a:extLst>
                </a:gridCol>
              </a:tblGrid>
              <a:tr h="461264">
                <a:tc>
                  <a:txBody>
                    <a:bodyPr/>
                    <a:lstStyle/>
                    <a:p>
                      <a:pPr algn="ctr">
                        <a:defRPr sz="1800" b="1">
                          <a:solidFill>
                            <a:srgbClr val="FFFFFF"/>
                          </a:solidFill>
                        </a:defRPr>
                      </a:pPr>
                      <a:r>
                        <a:rPr dirty="0">
                          <a:latin typeface="Times New Roman" panose="02020603050405020304" pitchFamily="18" charset="0"/>
                          <a:cs typeface="Times New Roman" panose="02020603050405020304" pitchFamily="18" charset="0"/>
                        </a:rPr>
                        <a:t>Metric</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Value</a:t>
                      </a:r>
                    </a:p>
                  </a:txBody>
                  <a:tcPr>
                    <a:solidFill>
                      <a:srgbClr val="00274C"/>
                    </a:solidFill>
                  </a:tcPr>
                </a:tc>
                <a:extLst>
                  <a:ext uri="{0D108BD9-81ED-4DB2-BD59-A6C34878D82A}">
                    <a16:rowId xmlns:a16="http://schemas.microsoft.com/office/drawing/2014/main" val="10000"/>
                  </a:ext>
                </a:extLst>
              </a:tr>
              <a:tr h="443484">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Data Collection</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Different device per speaker</a:t>
                      </a:r>
                    </a:p>
                  </a:txBody>
                  <a:tcPr/>
                </a:tc>
                <a:extLst>
                  <a:ext uri="{0D108BD9-81ED-4DB2-BD59-A6C34878D82A}">
                    <a16:rowId xmlns:a16="http://schemas.microsoft.com/office/drawing/2014/main" val="10001"/>
                  </a:ext>
                </a:extLst>
              </a:tr>
              <a:tr h="443484">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Abbas Device</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iPhone 13 Pro Max</a:t>
                      </a:r>
                    </a:p>
                  </a:txBody>
                  <a:tcPr>
                    <a:solidFill>
                      <a:srgbClr val="F2F2F2"/>
                    </a:solidFill>
                  </a:tcPr>
                </a:tc>
                <a:extLst>
                  <a:ext uri="{0D108BD9-81ED-4DB2-BD59-A6C34878D82A}">
                    <a16:rowId xmlns:a16="http://schemas.microsoft.com/office/drawing/2014/main" val="10002"/>
                  </a:ext>
                </a:extLst>
              </a:tr>
              <a:tr h="443484">
                <a:tc>
                  <a:txBody>
                    <a:bodyPr/>
                    <a:lstStyle/>
                    <a:p>
                      <a:pPr algn="ctr">
                        <a:defRPr sz="1600" b="1">
                          <a:solidFill>
                            <a:srgbClr val="333333"/>
                          </a:solidFill>
                        </a:defRPr>
                      </a:pPr>
                      <a:r>
                        <a:rPr lang="en-US" dirty="0">
                          <a:latin typeface="Times New Roman" panose="02020603050405020304" pitchFamily="18" charset="0"/>
                          <a:cs typeface="Times New Roman" panose="02020603050405020304" pitchFamily="18" charset="0"/>
                        </a:rPr>
                        <a:t>Shravya</a:t>
                      </a:r>
                      <a:r>
                        <a:rPr dirty="0">
                          <a:latin typeface="Times New Roman" panose="02020603050405020304" pitchFamily="18" charset="0"/>
                          <a:cs typeface="Times New Roman" panose="02020603050405020304" pitchFamily="18" charset="0"/>
                        </a:rPr>
                        <a:t> Device</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600">
                          <a:solidFill>
                            <a:srgbClr val="333333"/>
                          </a:solidFill>
                        </a:defRPr>
                      </a:pPr>
                      <a:r>
                        <a:rPr lang="en-US" dirty="0">
                          <a:latin typeface="Times New Roman" panose="02020603050405020304" pitchFamily="18" charset="0"/>
                          <a:cs typeface="Times New Roman" panose="02020603050405020304" pitchFamily="18" charset="0"/>
                        </a:rPr>
                        <a:t>Google Pixel</a:t>
                      </a:r>
                    </a:p>
                  </a:txBody>
                  <a:tcPr/>
                </a:tc>
                <a:extLst>
                  <a:ext uri="{0D108BD9-81ED-4DB2-BD59-A6C34878D82A}">
                    <a16:rowId xmlns:a16="http://schemas.microsoft.com/office/drawing/2014/main" val="10003"/>
                  </a:ext>
                </a:extLst>
              </a:tr>
              <a:tr h="443484">
                <a:tc>
                  <a:txBody>
                    <a:bodyPr/>
                    <a:lstStyle/>
                    <a:p>
                      <a:pPr algn="ctr">
                        <a:defRPr sz="1600" b="1">
                          <a:solidFill>
                            <a:srgbClr val="333333"/>
                          </a:solidFill>
                        </a:defRPr>
                      </a:pPr>
                      <a:r>
                        <a:rPr lang="en-US" dirty="0">
                          <a:latin typeface="Times New Roman" panose="02020603050405020304" pitchFamily="18" charset="0"/>
                          <a:cs typeface="Times New Roman" panose="02020603050405020304" pitchFamily="18" charset="0"/>
                        </a:rPr>
                        <a:t>Hesham</a:t>
                      </a:r>
                      <a:r>
                        <a:rPr dirty="0">
                          <a:latin typeface="Times New Roman" panose="02020603050405020304" pitchFamily="18" charset="0"/>
                          <a:cs typeface="Times New Roman" panose="02020603050405020304" pitchFamily="18" charset="0"/>
                        </a:rPr>
                        <a:t> Device</a:t>
                      </a:r>
                    </a:p>
                  </a:txBody>
                  <a:tcPr>
                    <a:solidFill>
                      <a:srgbClr val="F2F2F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1600">
                          <a:solidFill>
                            <a:srgbClr val="333333"/>
                          </a:solidFill>
                        </a:defRPr>
                      </a:pPr>
                      <a:r>
                        <a:rPr lang="en-US" dirty="0">
                          <a:latin typeface="Times New Roman" panose="02020603050405020304" pitchFamily="18" charset="0"/>
                          <a:cs typeface="Times New Roman" panose="02020603050405020304" pitchFamily="18" charset="0"/>
                        </a:rPr>
                        <a:t>Samsung Galaxy</a:t>
                      </a:r>
                    </a:p>
                  </a:txBody>
                  <a:tcPr>
                    <a:solidFill>
                      <a:srgbClr val="F2F2F2"/>
                    </a:solidFill>
                  </a:tcPr>
                </a:tc>
                <a:extLst>
                  <a:ext uri="{0D108BD9-81ED-4DB2-BD59-A6C34878D82A}">
                    <a16:rowId xmlns:a16="http://schemas.microsoft.com/office/drawing/2014/main" val="10004"/>
                  </a:ext>
                </a:extLst>
              </a:tr>
              <a:tr h="443484">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Training Accuracy</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96.12%</a:t>
                      </a:r>
                    </a:p>
                  </a:txBody>
                  <a:tcPr/>
                </a:tc>
                <a:extLst>
                  <a:ext uri="{0D108BD9-81ED-4DB2-BD59-A6C34878D82A}">
                    <a16:rowId xmlns:a16="http://schemas.microsoft.com/office/drawing/2014/main" val="10005"/>
                  </a:ext>
                </a:extLst>
              </a:tr>
              <a:tr h="443484">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Validation Accuracy</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95.33%</a:t>
                      </a:r>
                    </a:p>
                  </a:txBody>
                  <a:tcPr>
                    <a:solidFill>
                      <a:srgbClr val="F2F2F2"/>
                    </a:solidFill>
                  </a:tcPr>
                </a:tc>
                <a:extLst>
                  <a:ext uri="{0D108BD9-81ED-4DB2-BD59-A6C34878D82A}">
                    <a16:rowId xmlns:a16="http://schemas.microsoft.com/office/drawing/2014/main" val="10006"/>
                  </a:ext>
                </a:extLst>
              </a:tr>
              <a:tr h="443484">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Test Accuracy (same device)</a:t>
                      </a:r>
                    </a:p>
                  </a:txBody>
                  <a:tcPr>
                    <a:solidFill>
                      <a:srgbClr val="D0D8E8"/>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a:t>
                      </a:r>
                      <a:r>
                        <a:rPr lang="en-US" dirty="0">
                          <a:latin typeface="Times New Roman" panose="02020603050405020304" pitchFamily="18" charset="0"/>
                          <a:cs typeface="Times New Roman" panose="02020603050405020304" pitchFamily="18" charset="0"/>
                        </a:rPr>
                        <a:t>4</a:t>
                      </a:r>
                      <a:r>
                        <a:rPr dirty="0">
                          <a:latin typeface="Times New Roman" panose="02020603050405020304" pitchFamily="18" charset="0"/>
                          <a:cs typeface="Times New Roman" panose="02020603050405020304" pitchFamily="18" charset="0"/>
                        </a:rPr>
                        <a:t>.12%</a:t>
                      </a:r>
                    </a:p>
                  </a:txBody>
                  <a:tcPr>
                    <a:solidFill>
                      <a:srgbClr val="D0D8E8"/>
                    </a:solidFill>
                  </a:tcPr>
                </a:tc>
                <a:extLst>
                  <a:ext uri="{0D108BD9-81ED-4DB2-BD59-A6C34878D82A}">
                    <a16:rowId xmlns:a16="http://schemas.microsoft.com/office/drawing/2014/main" val="3050475889"/>
                  </a:ext>
                </a:extLst>
              </a:tr>
              <a:tr h="443484">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Test Accuracy (cross-device)</a:t>
                      </a:r>
                    </a:p>
                  </a:txBody>
                  <a:tcPr>
                    <a:solidFill>
                      <a:srgbClr val="F2F2F2"/>
                    </a:solidFill>
                  </a:tcPr>
                </a:tc>
                <a:tc>
                  <a:txBody>
                    <a:bodyPr/>
                    <a:lstStyle/>
                    <a:p>
                      <a:pPr algn="ctr">
                        <a:defRPr sz="1600">
                          <a:solidFill>
                            <a:srgbClr val="333333"/>
                          </a:solidFill>
                        </a:defRPr>
                      </a:pPr>
                      <a:r>
                        <a:rPr lang="en-US" dirty="0">
                          <a:latin typeface="Times New Roman" panose="02020603050405020304" pitchFamily="18" charset="0"/>
                          <a:cs typeface="Times New Roman" panose="02020603050405020304" pitchFamily="18" charset="0"/>
                        </a:rPr>
                        <a:t>Failure (Not good at all)</a:t>
                      </a:r>
                      <a:endParaRPr dirty="0">
                        <a:latin typeface="Times New Roman" panose="02020603050405020304" pitchFamily="18" charset="0"/>
                        <a:cs typeface="Times New Roman" panose="02020603050405020304" pitchFamily="18" charset="0"/>
                      </a:endParaRPr>
                    </a:p>
                  </a:txBody>
                  <a:tcPr>
                    <a:solidFill>
                      <a:srgbClr val="F2F2F2"/>
                    </a:solidFill>
                  </a:tcPr>
                </a:tc>
                <a:extLst>
                  <a:ext uri="{0D108BD9-81ED-4DB2-BD59-A6C34878D82A}">
                    <a16:rowId xmlns:a16="http://schemas.microsoft.com/office/drawing/2014/main" val="10008"/>
                  </a:ext>
                </a:extLst>
              </a:tr>
              <a:tr h="443484">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Issue Identified</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Model learned DEVICE signatures, not VOICE</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7948586"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Phase 3: Custom Dataset - Complete Failure</a:t>
            </a:r>
          </a:p>
        </p:txBody>
      </p:sp>
      <p:sp>
        <p:nvSpPr>
          <p:cNvPr id="5" name="TextBox 4"/>
          <p:cNvSpPr txBox="1"/>
          <p:nvPr/>
        </p:nvSpPr>
        <p:spPr>
          <a:xfrm>
            <a:off x="731520" y="1289745"/>
            <a:ext cx="10728655" cy="5438476"/>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Data Collection (Flawed Approach)</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Each team member used their own mobile phone</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Abbas: iPhone 13 Pro Max | Shravya: Google Pixel</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 Hesham: Samsung Galaxy </a:t>
            </a: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3,600 samples total (1,200 per speaker)</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Training Results: Looked Perfect!</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Validation Accuracy: 95.33%</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Smooth convergence, strong confusion matrix diagonal</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Real-World Testing: COMPLETE FAILURE</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Shravya's new recording → Predicted as Abbas (95% confidence)</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Consistent misclassification despite high validation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6447727"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Systematic Troubleshooting Process</a:t>
            </a:r>
          </a:p>
        </p:txBody>
      </p:sp>
      <p:sp>
        <p:nvSpPr>
          <p:cNvPr id="5" name="TextBox 4"/>
          <p:cNvSpPr txBox="1"/>
          <p:nvPr/>
        </p:nvSpPr>
        <p:spPr>
          <a:xfrm>
            <a:off x="731519" y="1417320"/>
            <a:ext cx="10728655" cy="4884094"/>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Hypothesis 1: Frequency Overlap?</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Action: </a:t>
            </a:r>
            <a:r>
              <a:rPr dirty="0">
                <a:solidFill>
                  <a:schemeClr val="tx1">
                    <a:lumMod val="95000"/>
                    <a:lumOff val="5000"/>
                  </a:schemeClr>
                </a:solidFill>
                <a:latin typeface="Times New Roman" panose="02020603050405020304" pitchFamily="18" charset="0"/>
                <a:cs typeface="Times New Roman" panose="02020603050405020304" pitchFamily="18" charset="0"/>
              </a:rPr>
              <a:t>Plotted spectrograms, analyzed fundamental frequencies</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Result: </a:t>
            </a:r>
            <a:r>
              <a:rPr dirty="0">
                <a:solidFill>
                  <a:schemeClr val="tx1">
                    <a:lumMod val="95000"/>
                    <a:lumOff val="5000"/>
                  </a:schemeClr>
                </a:solidFill>
                <a:latin typeface="Times New Roman" panose="02020603050405020304" pitchFamily="18" charset="0"/>
                <a:cs typeface="Times New Roman" panose="02020603050405020304" pitchFamily="18" charset="0"/>
              </a:rPr>
              <a:t>Frequencies were DISTINCT across speakers ✗</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Hypothesis 2: Silence in Audio Chunks?</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Action: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Implemented energy-based </a:t>
            </a:r>
            <a:r>
              <a:rPr dirty="0">
                <a:solidFill>
                  <a:schemeClr val="tx1">
                    <a:lumMod val="95000"/>
                    <a:lumOff val="5000"/>
                  </a:schemeClr>
                </a:solidFill>
                <a:latin typeface="Times New Roman" panose="02020603050405020304" pitchFamily="18" charset="0"/>
                <a:cs typeface="Times New Roman" panose="02020603050405020304" pitchFamily="18" charset="0"/>
              </a:rPr>
              <a:t>silence detection</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and removal</a:t>
            </a: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Result: </a:t>
            </a:r>
            <a:r>
              <a:rPr dirty="0">
                <a:solidFill>
                  <a:schemeClr val="tx1">
                    <a:lumMod val="95000"/>
                    <a:lumOff val="5000"/>
                  </a:schemeClr>
                </a:solidFill>
                <a:latin typeface="Times New Roman" panose="02020603050405020304" pitchFamily="18" charset="0"/>
                <a:cs typeface="Times New Roman" panose="02020603050405020304" pitchFamily="18" charset="0"/>
              </a:rPr>
              <a:t>NO improvement in predictions ✗</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Hypothesis 3: Fixed Chunking Issues?</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Action: </a:t>
            </a:r>
            <a:r>
              <a:rPr dirty="0">
                <a:solidFill>
                  <a:schemeClr val="tx1">
                    <a:lumMod val="95000"/>
                    <a:lumOff val="5000"/>
                  </a:schemeClr>
                </a:solidFill>
                <a:latin typeface="Times New Roman" panose="02020603050405020304" pitchFamily="18" charset="0"/>
                <a:cs typeface="Times New Roman" panose="02020603050405020304" pitchFamily="18" charset="0"/>
              </a:rPr>
              <a:t>Implemented rolling window approach (0-1s, 0.5-1.5s, etc.)</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Result: </a:t>
            </a:r>
            <a:r>
              <a:rPr dirty="0">
                <a:solidFill>
                  <a:schemeClr val="tx1">
                    <a:lumMod val="95000"/>
                    <a:lumOff val="5000"/>
                  </a:schemeClr>
                </a:solidFill>
                <a:latin typeface="Times New Roman" panose="02020603050405020304" pitchFamily="18" charset="0"/>
                <a:cs typeface="Times New Roman" panose="02020603050405020304" pitchFamily="18" charset="0"/>
              </a:rPr>
              <a:t>Accuracy increased to 97%, but STILL failing on new audio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8541505"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Hypothesis 1: Fundamental Frequency Analysis</a:t>
            </a:r>
          </a:p>
        </p:txBody>
      </p:sp>
      <p:pic>
        <p:nvPicPr>
          <p:cNvPr id="5" name="Picture 4" descr="cell_59_output_1.png"/>
          <p:cNvPicPr>
            <a:picLocks noChangeAspect="1"/>
          </p:cNvPicPr>
          <p:nvPr/>
        </p:nvPicPr>
        <p:blipFill>
          <a:blip r:embed="rId2"/>
          <a:stretch>
            <a:fillRect/>
          </a:stretch>
        </p:blipFill>
        <p:spPr>
          <a:xfrm>
            <a:off x="5352914" y="1381185"/>
            <a:ext cx="5688590" cy="4836735"/>
          </a:xfrm>
          <a:prstGeom prst="rect">
            <a:avLst/>
          </a:prstGeom>
        </p:spPr>
      </p:pic>
      <p:sp>
        <p:nvSpPr>
          <p:cNvPr id="6" name="TextBox 5"/>
          <p:cNvSpPr txBox="1"/>
          <p:nvPr/>
        </p:nvSpPr>
        <p:spPr>
          <a:xfrm>
            <a:off x="4632771" y="6241108"/>
            <a:ext cx="7128876" cy="338554"/>
          </a:xfrm>
          <a:prstGeom prst="rect">
            <a:avLst/>
          </a:prstGeom>
          <a:noFill/>
        </p:spPr>
        <p:txBody>
          <a:bodyPr wrap="none">
            <a:spAutoFit/>
          </a:bodyPr>
          <a:lstStyle/>
          <a:p>
            <a:pPr algn="ctr">
              <a:defRPr sz="1600" i="1">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Fig. </a:t>
            </a:r>
            <a:r>
              <a:rPr b="1" dirty="0">
                <a:solidFill>
                  <a:schemeClr val="tx1">
                    <a:lumMod val="95000"/>
                    <a:lumOff val="5000"/>
                  </a:schemeClr>
                </a:solidFill>
                <a:latin typeface="Times New Roman" panose="02020603050405020304" pitchFamily="18" charset="0"/>
                <a:cs typeface="Times New Roman" panose="02020603050405020304" pitchFamily="18" charset="0"/>
              </a:rPr>
              <a:t>Spectrograms showing DISTINCT pitch ranges - ruled out frequency overlap</a:t>
            </a:r>
          </a:p>
        </p:txBody>
      </p:sp>
      <p:sp>
        <p:nvSpPr>
          <p:cNvPr id="10" name="TextBox 9">
            <a:extLst>
              <a:ext uri="{FF2B5EF4-FFF2-40B4-BE49-F238E27FC236}">
                <a16:creationId xmlns:a16="http://schemas.microsoft.com/office/drawing/2014/main" id="{7F6C653F-337A-5BDD-A37D-69357106BBAA}"/>
              </a:ext>
            </a:extLst>
          </p:cNvPr>
          <p:cNvSpPr txBox="1"/>
          <p:nvPr/>
        </p:nvSpPr>
        <p:spPr>
          <a:xfrm>
            <a:off x="580293" y="2368391"/>
            <a:ext cx="4563208" cy="2862322"/>
          </a:xfrm>
          <a:prstGeom prst="rect">
            <a:avLst/>
          </a:prstGeom>
          <a:noFill/>
        </p:spPr>
        <p:txBody>
          <a:bodyPr wrap="square">
            <a:spAutoFit/>
          </a:bodyPr>
          <a:lstStyle/>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Abbas: </a:t>
            </a:r>
          </a:p>
          <a:p>
            <a:r>
              <a:rPr lang="en-US" sz="2000" dirty="0">
                <a:latin typeface="Times New Roman" panose="02020603050405020304" pitchFamily="18" charset="0"/>
                <a:cs typeface="Times New Roman" panose="02020603050405020304" pitchFamily="18" charset="0"/>
              </a:rPr>
              <a:t>Mean F0 = 187.3 Hz, Std = 69.0 Hz</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Shravya: </a:t>
            </a:r>
          </a:p>
          <a:p>
            <a:r>
              <a:rPr lang="en-US" sz="2000" dirty="0">
                <a:latin typeface="Times New Roman" panose="02020603050405020304" pitchFamily="18" charset="0"/>
                <a:cs typeface="Times New Roman" panose="02020603050405020304" pitchFamily="18" charset="0"/>
              </a:rPr>
              <a:t>Mean F0 = 210.9 Hz, Std = 43.5 Hz</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Hesham: </a:t>
            </a:r>
          </a:p>
          <a:p>
            <a:r>
              <a:rPr lang="en-US" sz="2000" dirty="0">
                <a:latin typeface="Times New Roman" panose="02020603050405020304" pitchFamily="18" charset="0"/>
                <a:cs typeface="Times New Roman" panose="02020603050405020304" pitchFamily="18" charset="0"/>
              </a:rPr>
              <a:t>Mean F0 = 205.0 Hz, Std = 77.9 Hz</a:t>
            </a: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8279574"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THE DISCOVERY: Cross-Device Experiment</a:t>
            </a:r>
          </a:p>
        </p:txBody>
      </p:sp>
      <p:sp>
        <p:nvSpPr>
          <p:cNvPr id="5" name="TextBox 4"/>
          <p:cNvSpPr txBox="1"/>
          <p:nvPr/>
        </p:nvSpPr>
        <p:spPr>
          <a:xfrm>
            <a:off x="731519" y="1381185"/>
            <a:ext cx="10728655" cy="4884479"/>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The Controlled Experiment</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Shravya recorded using Abbas's phone (iPhone 13 Pro Max)</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Abbas recorded using Shravya's phone (Google Pixel)</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The Shocking Result</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Shravya's voice on Abbas's phone → Predicted as ABBAS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Abbas's voice on Shravya's phone → Predicted as SHRAVYA</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lnSpc>
                <a:spcPct val="130000"/>
              </a:lnSpc>
              <a:spcBef>
                <a:spcPts val="1200"/>
              </a:spcBef>
              <a:defRPr sz="2000">
                <a:solidFill>
                  <a:srgbClr val="666666"/>
                </a:solidFill>
              </a:defRPr>
            </a:pP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lnSpc>
                <a:spcPct val="130000"/>
              </a:lnSpc>
              <a:spcBef>
                <a:spcPts val="1200"/>
              </a:spcBef>
              <a:defRPr sz="2000">
                <a:solidFill>
                  <a:srgbClr val="666666"/>
                </a:solidFill>
              </a:defRPr>
            </a:pPr>
            <a:r>
              <a:rPr b="1" dirty="0">
                <a:solidFill>
                  <a:srgbClr val="C00000"/>
                </a:solidFill>
                <a:latin typeface="Times New Roman" panose="02020603050405020304" pitchFamily="18" charset="0"/>
                <a:cs typeface="Times New Roman" panose="02020603050405020304" pitchFamily="18" charset="0"/>
              </a:rPr>
              <a:t>THE MODEL WAS RECOGNIZING THE</a:t>
            </a:r>
            <a:r>
              <a:rPr lang="en-US" b="1" dirty="0">
                <a:solidFill>
                  <a:srgbClr val="C00000"/>
                </a:solidFill>
                <a:latin typeface="Times New Roman" panose="02020603050405020304" pitchFamily="18" charset="0"/>
                <a:cs typeface="Times New Roman" panose="02020603050405020304" pitchFamily="18" charset="0"/>
              </a:rPr>
              <a:t> </a:t>
            </a:r>
            <a:r>
              <a:rPr b="1" dirty="0">
                <a:solidFill>
                  <a:srgbClr val="C00000"/>
                </a:solidFill>
                <a:latin typeface="Times New Roman" panose="02020603050405020304" pitchFamily="18" charset="0"/>
                <a:cs typeface="Times New Roman" panose="02020603050405020304" pitchFamily="18" charset="0"/>
              </a:rPr>
              <a:t>RECORDING DEVICE, NOT THE SPEAKER!</a:t>
            </a:r>
          </a:p>
          <a:p>
            <a:pPr algn="ct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Device signature &gt;&gt; Voice characteristics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7131055"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Root Cause: Device Signature Learning</a:t>
            </a:r>
          </a:p>
        </p:txBody>
      </p:sp>
      <p:sp>
        <p:nvSpPr>
          <p:cNvPr id="5" name="TextBox 4"/>
          <p:cNvSpPr txBox="1"/>
          <p:nvPr/>
        </p:nvSpPr>
        <p:spPr>
          <a:xfrm>
            <a:off x="731520" y="1276643"/>
            <a:ext cx="10728655" cy="5438476"/>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What the Model Actually Learned</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Abbas = iPhone 13 Pro Max microphone signature</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Hesham = Samsung Galaxy microphone signature</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Shravya = Google Pixel microphone signature</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Why It Happened</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Different microphones have distinct frequency response curves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Device signatures are CONSISTENT and STRONG features</a:t>
            </a:r>
          </a:p>
          <a:p>
            <a:pPr marL="800100" lvl="1" indent="-342900">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Perfect correlation: </a:t>
            </a:r>
            <a:r>
              <a:rPr dirty="0">
                <a:solidFill>
                  <a:schemeClr val="tx1">
                    <a:lumMod val="95000"/>
                    <a:lumOff val="5000"/>
                  </a:schemeClr>
                </a:solidFill>
                <a:latin typeface="Times New Roman" panose="02020603050405020304" pitchFamily="18" charset="0"/>
                <a:cs typeface="Times New Roman" panose="02020603050405020304" pitchFamily="18" charset="0"/>
              </a:rPr>
              <a:t>device type ↔ speaker identity</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MFCCs captured device characteristics + voice characteristics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Model learned the EASIEST discriminative pattern (devices, not voices)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11389208"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Phase 3: Training Curves </a:t>
            </a:r>
            <a:r>
              <a:rPr lang="en-US" dirty="0">
                <a:latin typeface="Times New Roman" panose="02020603050405020304" pitchFamily="18" charset="0"/>
                <a:cs typeface="Times New Roman" panose="02020603050405020304" pitchFamily="18" charset="0"/>
              </a:rPr>
              <a:t>and Confusion Matrix </a:t>
            </a:r>
            <a:r>
              <a:rPr dirty="0">
                <a:latin typeface="Times New Roman" panose="02020603050405020304" pitchFamily="18" charset="0"/>
                <a:cs typeface="Times New Roman" panose="02020603050405020304" pitchFamily="18" charset="0"/>
              </a:rPr>
              <a:t>Looked Perfect</a:t>
            </a:r>
          </a:p>
        </p:txBody>
      </p:sp>
      <p:pic>
        <p:nvPicPr>
          <p:cNvPr id="5" name="Picture 4" descr="cell_62_output_1.png"/>
          <p:cNvPicPr>
            <a:picLocks noChangeAspect="1"/>
          </p:cNvPicPr>
          <p:nvPr/>
        </p:nvPicPr>
        <p:blipFill>
          <a:blip r:embed="rId2"/>
          <a:stretch>
            <a:fillRect/>
          </a:stretch>
        </p:blipFill>
        <p:spPr>
          <a:xfrm>
            <a:off x="355599" y="2758440"/>
            <a:ext cx="6443967" cy="2142219"/>
          </a:xfrm>
          <a:prstGeom prst="rect">
            <a:avLst/>
          </a:prstGeom>
        </p:spPr>
      </p:pic>
      <p:sp>
        <p:nvSpPr>
          <p:cNvPr id="6" name="TextBox 5"/>
          <p:cNvSpPr txBox="1"/>
          <p:nvPr/>
        </p:nvSpPr>
        <p:spPr>
          <a:xfrm>
            <a:off x="1211176" y="5100812"/>
            <a:ext cx="4884671"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High accuracy masked what the model actually learned</a:t>
            </a:r>
          </a:p>
        </p:txBody>
      </p:sp>
      <p:pic>
        <p:nvPicPr>
          <p:cNvPr id="7" name="Picture 6" descr="cell_62_output_2.png">
            <a:extLst>
              <a:ext uri="{FF2B5EF4-FFF2-40B4-BE49-F238E27FC236}">
                <a16:creationId xmlns:a16="http://schemas.microsoft.com/office/drawing/2014/main" id="{6118EACD-59E4-6DC4-7F8C-8B02CB1D1C9A}"/>
              </a:ext>
            </a:extLst>
          </p:cNvPr>
          <p:cNvPicPr>
            <a:picLocks noChangeAspect="1"/>
          </p:cNvPicPr>
          <p:nvPr/>
        </p:nvPicPr>
        <p:blipFill>
          <a:blip r:embed="rId3"/>
          <a:stretch>
            <a:fillRect/>
          </a:stretch>
        </p:blipFill>
        <p:spPr>
          <a:xfrm>
            <a:off x="7182572" y="2002095"/>
            <a:ext cx="4539039" cy="3790529"/>
          </a:xfrm>
          <a:prstGeom prst="rect">
            <a:avLst/>
          </a:prstGeom>
        </p:spPr>
      </p:pic>
      <p:sp>
        <p:nvSpPr>
          <p:cNvPr id="8" name="TextBox 7">
            <a:extLst>
              <a:ext uri="{FF2B5EF4-FFF2-40B4-BE49-F238E27FC236}">
                <a16:creationId xmlns:a16="http://schemas.microsoft.com/office/drawing/2014/main" id="{0410BCF1-174E-2EF8-973A-0157E2ECF428}"/>
              </a:ext>
            </a:extLst>
          </p:cNvPr>
          <p:cNvSpPr txBox="1"/>
          <p:nvPr/>
        </p:nvSpPr>
        <p:spPr>
          <a:xfrm>
            <a:off x="7242520" y="5937239"/>
            <a:ext cx="4419142" cy="584775"/>
          </a:xfrm>
          <a:prstGeom prst="rect">
            <a:avLst/>
          </a:prstGeom>
          <a:noFill/>
        </p:spPr>
        <p:txBody>
          <a:bodyPr wrap="square">
            <a:spAutoFit/>
          </a:bodyPr>
          <a:lstStyle/>
          <a:p>
            <a:pPr algn="ctr">
              <a:defRPr sz="1600" i="1">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Fig. </a:t>
            </a:r>
            <a:r>
              <a:rPr b="1" dirty="0">
                <a:solidFill>
                  <a:schemeClr val="tx1">
                    <a:lumMod val="95000"/>
                    <a:lumOff val="5000"/>
                  </a:schemeClr>
                </a:solidFill>
                <a:latin typeface="Times New Roman" panose="02020603050405020304" pitchFamily="18" charset="0"/>
                <a:cs typeface="Times New Roman" panose="02020603050405020304" pitchFamily="18" charset="0"/>
              </a:rPr>
              <a:t>Strong diagonal didn't reveal learning device signatures instead of voices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5540299"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Phase 4: Same Device Solution</a:t>
            </a:r>
          </a:p>
        </p:txBody>
      </p:sp>
      <p:sp>
        <p:nvSpPr>
          <p:cNvPr id="5" name="TextBox 4"/>
          <p:cNvSpPr txBox="1"/>
          <p:nvPr/>
        </p:nvSpPr>
        <p:spPr>
          <a:xfrm>
            <a:off x="731520" y="1224855"/>
            <a:ext cx="10728655" cy="5438476"/>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Hypothesis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If all speakers use SAME device during training</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Device signature becomes CONSTANT across classes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Model FORCED to learn voice characteristics</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New Data Collection Protocol</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Selected ONE phone for ALL recordings (iPhone 13 Pro Max)</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Each speaker recorded 20 minutes using identical device</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Generated 1,200 samples per speaker (3,600 total)</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Same LSTM architecture as Phase 3</a:t>
            </a:r>
          </a:p>
          <a:p>
            <a:pPr algn="ct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Simple change, profound impact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6975564"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Phase 4: Same Device Training Results</a:t>
            </a:r>
          </a:p>
        </p:txBody>
      </p:sp>
      <p:sp>
        <p:nvSpPr>
          <p:cNvPr id="5" name="TextBox 4"/>
          <p:cNvSpPr txBox="1"/>
          <p:nvPr/>
        </p:nvSpPr>
        <p:spPr>
          <a:xfrm>
            <a:off x="3374589" y="1463040"/>
            <a:ext cx="5442516"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Controlled data collection forces model to learn voice features</a:t>
            </a:r>
          </a:p>
        </p:txBody>
      </p:sp>
      <p:graphicFrame>
        <p:nvGraphicFramePr>
          <p:cNvPr id="6" name="Table 5"/>
          <p:cNvGraphicFramePr>
            <a:graphicFrameLocks noGrp="1"/>
          </p:cNvGraphicFramePr>
          <p:nvPr>
            <p:extLst>
              <p:ext uri="{D42A27DB-BD31-4B8C-83A1-F6EECF244321}">
                <p14:modId xmlns:p14="http://schemas.microsoft.com/office/powerpoint/2010/main" val="2866543980"/>
              </p:ext>
            </p:extLst>
          </p:nvPr>
        </p:nvGraphicFramePr>
        <p:xfrm>
          <a:off x="1523847" y="2011680"/>
          <a:ext cx="9144000" cy="4572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57200">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Metric</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Value</a:t>
                      </a:r>
                    </a:p>
                  </a:txBody>
                  <a:tcPr>
                    <a:solidFill>
                      <a:srgbClr val="00274C"/>
                    </a:solidFill>
                  </a:tcPr>
                </a:tc>
                <a:extLst>
                  <a:ext uri="{0D108BD9-81ED-4DB2-BD59-A6C34878D82A}">
                    <a16:rowId xmlns:a16="http://schemas.microsoft.com/office/drawing/2014/main" val="10000"/>
                  </a:ext>
                </a:extLst>
              </a:tr>
              <a:tr h="457200">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Data Collection</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Same device for ALL speakers</a:t>
                      </a:r>
                    </a:p>
                  </a:txBody>
                  <a:tcPr/>
                </a:tc>
                <a:extLst>
                  <a:ext uri="{0D108BD9-81ED-4DB2-BD59-A6C34878D82A}">
                    <a16:rowId xmlns:a16="http://schemas.microsoft.com/office/drawing/2014/main" val="10001"/>
                  </a:ext>
                </a:extLst>
              </a:tr>
              <a:tr h="457200">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Training Device</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iPhone 13 Pro Max</a:t>
                      </a:r>
                    </a:p>
                  </a:txBody>
                  <a:tcPr>
                    <a:solidFill>
                      <a:srgbClr val="F2F2F2"/>
                    </a:solidFill>
                  </a:tcPr>
                </a:tc>
                <a:extLst>
                  <a:ext uri="{0D108BD9-81ED-4DB2-BD59-A6C34878D82A}">
                    <a16:rowId xmlns:a16="http://schemas.microsoft.com/office/drawing/2014/main" val="10002"/>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Training Accuracy</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97.38%</a:t>
                      </a:r>
                    </a:p>
                  </a:txBody>
                  <a:tcPr/>
                </a:tc>
                <a:extLst>
                  <a:ext uri="{0D108BD9-81ED-4DB2-BD59-A6C34878D82A}">
                    <a16:rowId xmlns:a16="http://schemas.microsoft.com/office/drawing/2014/main" val="10003"/>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Validation Accuracy</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95.74%</a:t>
                      </a:r>
                    </a:p>
                  </a:txBody>
                  <a:tcPr>
                    <a:solidFill>
                      <a:srgbClr val="F2F2F2"/>
                    </a:solidFill>
                  </a:tcPr>
                </a:tc>
                <a:extLst>
                  <a:ext uri="{0D108BD9-81ED-4DB2-BD59-A6C34878D82A}">
                    <a16:rowId xmlns:a16="http://schemas.microsoft.com/office/drawing/2014/main" val="10004"/>
                  </a:ext>
                </a:extLst>
              </a:tr>
              <a:tr h="457200">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Test Accuracy (same device)</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96.12%</a:t>
                      </a:r>
                    </a:p>
                  </a:txBody>
                  <a:tcPr/>
                </a:tc>
                <a:extLst>
                  <a:ext uri="{0D108BD9-81ED-4DB2-BD59-A6C34878D82A}">
                    <a16:rowId xmlns:a16="http://schemas.microsoft.com/office/drawing/2014/main" val="10005"/>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Test Accuracy (cross-device)</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96% - SUCCESS!</a:t>
                      </a:r>
                    </a:p>
                  </a:txBody>
                  <a:tcPr>
                    <a:solidFill>
                      <a:srgbClr val="F2F2F2"/>
                    </a:solidFill>
                  </a:tcPr>
                </a:tc>
                <a:extLst>
                  <a:ext uri="{0D108BD9-81ED-4DB2-BD59-A6C34878D82A}">
                    <a16:rowId xmlns:a16="http://schemas.microsoft.com/office/drawing/2014/main" val="10006"/>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Epochs Trained</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11 (early stopping)</a:t>
                      </a:r>
                    </a:p>
                  </a:txBody>
                  <a:tcPr/>
                </a:tc>
                <a:extLst>
                  <a:ext uri="{0D108BD9-81ED-4DB2-BD59-A6C34878D82A}">
                    <a16:rowId xmlns:a16="http://schemas.microsoft.com/office/drawing/2014/main" val="10007"/>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Training Time</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~10 minutes</a:t>
                      </a:r>
                    </a:p>
                  </a:txBody>
                  <a:tcPr>
                    <a:solidFill>
                      <a:srgbClr val="F2F2F2"/>
                    </a:solidFill>
                  </a:tcPr>
                </a:tc>
                <a:extLst>
                  <a:ext uri="{0D108BD9-81ED-4DB2-BD59-A6C34878D82A}">
                    <a16:rowId xmlns:a16="http://schemas.microsoft.com/office/drawing/2014/main" val="10008"/>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Features Learned</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VOICE characteristics (not devices)</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6917599"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Cross-Device Testing: Detailed Results</a:t>
            </a:r>
          </a:p>
        </p:txBody>
      </p:sp>
      <p:sp>
        <p:nvSpPr>
          <p:cNvPr id="5" name="TextBox 4"/>
          <p:cNvSpPr txBox="1"/>
          <p:nvPr/>
        </p:nvSpPr>
        <p:spPr>
          <a:xfrm>
            <a:off x="2568536" y="1463040"/>
            <a:ext cx="7054624"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Model successfully generalizes across different recording devices - 96% accuracy</a:t>
            </a:r>
          </a:p>
        </p:txBody>
      </p:sp>
      <p:graphicFrame>
        <p:nvGraphicFramePr>
          <p:cNvPr id="6" name="Table 5"/>
          <p:cNvGraphicFramePr>
            <a:graphicFrameLocks noGrp="1"/>
          </p:cNvGraphicFramePr>
          <p:nvPr>
            <p:extLst>
              <p:ext uri="{D42A27DB-BD31-4B8C-83A1-F6EECF244321}">
                <p14:modId xmlns:p14="http://schemas.microsoft.com/office/powerpoint/2010/main" val="1087368456"/>
              </p:ext>
            </p:extLst>
          </p:nvPr>
        </p:nvGraphicFramePr>
        <p:xfrm>
          <a:off x="1523847" y="2011680"/>
          <a:ext cx="9144000" cy="3657600"/>
        </p:xfrm>
        <a:graphic>
          <a:graphicData uri="http://schemas.openxmlformats.org/drawingml/2006/table">
            <a:tbl>
              <a:tblPr firstRow="1" bandRow="1">
                <a:tableStyleId>{5C22544A-7EE6-4342-B048-85BDC9FD1C3A}</a:tableStyleId>
              </a:tblPr>
              <a:tblGrid>
                <a:gridCol w="2467861">
                  <a:extLst>
                    <a:ext uri="{9D8B030D-6E8A-4147-A177-3AD203B41FA5}">
                      <a16:colId xmlns:a16="http://schemas.microsoft.com/office/drawing/2014/main" val="20000"/>
                    </a:ext>
                  </a:extLst>
                </a:gridCol>
                <a:gridCol w="2839915">
                  <a:extLst>
                    <a:ext uri="{9D8B030D-6E8A-4147-A177-3AD203B41FA5}">
                      <a16:colId xmlns:a16="http://schemas.microsoft.com/office/drawing/2014/main" val="20001"/>
                    </a:ext>
                  </a:extLst>
                </a:gridCol>
                <a:gridCol w="1855177">
                  <a:extLst>
                    <a:ext uri="{9D8B030D-6E8A-4147-A177-3AD203B41FA5}">
                      <a16:colId xmlns:a16="http://schemas.microsoft.com/office/drawing/2014/main" val="20002"/>
                    </a:ext>
                  </a:extLst>
                </a:gridCol>
                <a:gridCol w="1981047">
                  <a:extLst>
                    <a:ext uri="{9D8B030D-6E8A-4147-A177-3AD203B41FA5}">
                      <a16:colId xmlns:a16="http://schemas.microsoft.com/office/drawing/2014/main" val="20003"/>
                    </a:ext>
                  </a:extLst>
                </a:gridCol>
              </a:tblGrid>
              <a:tr h="457200">
                <a:tc>
                  <a:txBody>
                    <a:bodyPr/>
                    <a:lstStyle/>
                    <a:p>
                      <a:pPr algn="ctr">
                        <a:defRPr sz="1800" b="1">
                          <a:solidFill>
                            <a:srgbClr val="FFFFFF"/>
                          </a:solidFill>
                        </a:defRPr>
                      </a:pPr>
                      <a:r>
                        <a:rPr dirty="0">
                          <a:latin typeface="Times New Roman" panose="02020603050405020304" pitchFamily="18" charset="0"/>
                          <a:cs typeface="Times New Roman" panose="02020603050405020304" pitchFamily="18" charset="0"/>
                        </a:rPr>
                        <a:t>Test Scenario</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Device Used</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Prediction</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Status</a:t>
                      </a:r>
                    </a:p>
                  </a:txBody>
                  <a:tcPr>
                    <a:solidFill>
                      <a:srgbClr val="00274C"/>
                    </a:solidFill>
                  </a:tcPr>
                </a:tc>
                <a:extLst>
                  <a:ext uri="{0D108BD9-81ED-4DB2-BD59-A6C34878D82A}">
                    <a16:rowId xmlns:a16="http://schemas.microsoft.com/office/drawing/2014/main" val="10000"/>
                  </a:ext>
                </a:extLst>
              </a:tr>
              <a:tr h="457200">
                <a:tc>
                  <a:txBody>
                    <a:bodyPr/>
                    <a:lstStyle/>
                    <a:p>
                      <a:pPr algn="ctr">
                        <a:defRPr sz="1600" b="1">
                          <a:solidFill>
                            <a:srgbClr val="333333"/>
                          </a:solidFill>
                        </a:defRPr>
                      </a:pPr>
                      <a:r>
                        <a:rPr dirty="0">
                          <a:latin typeface="Times New Roman" panose="02020603050405020304" pitchFamily="18" charset="0"/>
                          <a:cs typeface="Times New Roman" panose="02020603050405020304" pitchFamily="18" charset="0"/>
                        </a:rPr>
                        <a:t>Abbas (new recording)</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iPhone (training device)</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Abbas</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tc>
                <a:extLst>
                  <a:ext uri="{0D108BD9-81ED-4DB2-BD59-A6C34878D82A}">
                    <a16:rowId xmlns:a16="http://schemas.microsoft.com/office/drawing/2014/main" val="10001"/>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Hesham (new recording)</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iPhone (training device)</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Hesham</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solidFill>
                      <a:srgbClr val="F2F2F2"/>
                    </a:solidFill>
                  </a:tcPr>
                </a:tc>
                <a:extLst>
                  <a:ext uri="{0D108BD9-81ED-4DB2-BD59-A6C34878D82A}">
                    <a16:rowId xmlns:a16="http://schemas.microsoft.com/office/drawing/2014/main" val="10002"/>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Shravya (new recording)</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iPhone (training device)</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Shravya</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tc>
                <a:extLst>
                  <a:ext uri="{0D108BD9-81ED-4DB2-BD59-A6C34878D82A}">
                    <a16:rowId xmlns:a16="http://schemas.microsoft.com/office/drawing/2014/main" val="10003"/>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Abbas</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Google Pixel (never seen)</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Abbas</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solidFill>
                      <a:srgbClr val="F2F2F2"/>
                    </a:solidFill>
                  </a:tcPr>
                </a:tc>
                <a:extLst>
                  <a:ext uri="{0D108BD9-81ED-4DB2-BD59-A6C34878D82A}">
                    <a16:rowId xmlns:a16="http://schemas.microsoft.com/office/drawing/2014/main" val="10004"/>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Hesham</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Samsung Galaxy (never seen)</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Hesham</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tc>
                <a:extLst>
                  <a:ext uri="{0D108BD9-81ED-4DB2-BD59-A6C34878D82A}">
                    <a16:rowId xmlns:a16="http://schemas.microsoft.com/office/drawing/2014/main" val="10005"/>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Shravya</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iPad (never seen)</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Shravya</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 Correct</a:t>
                      </a:r>
                    </a:p>
                  </a:txBody>
                  <a:tcPr>
                    <a:solidFill>
                      <a:srgbClr val="F2F2F2"/>
                    </a:solidFill>
                  </a:tcPr>
                </a:tc>
                <a:extLst>
                  <a:ext uri="{0D108BD9-81ED-4DB2-BD59-A6C34878D82A}">
                    <a16:rowId xmlns:a16="http://schemas.microsoft.com/office/drawing/2014/main" val="10006"/>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Abbas</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Laptop microphone (never seen)</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Abbas</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 Correct</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9414052"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Phase 4: Proper Voice Learning</a:t>
            </a:r>
            <a:r>
              <a:rPr lang="en-US" dirty="0">
                <a:latin typeface="Times New Roman" panose="02020603050405020304" pitchFamily="18" charset="0"/>
                <a:cs typeface="Times New Roman" panose="02020603050405020304" pitchFamily="18" charset="0"/>
              </a:rPr>
              <a:t> &amp; Confusion Matrix</a:t>
            </a:r>
            <a:endParaRPr dirty="0">
              <a:latin typeface="Times New Roman" panose="02020603050405020304" pitchFamily="18" charset="0"/>
              <a:cs typeface="Times New Roman" panose="02020603050405020304" pitchFamily="18" charset="0"/>
            </a:endParaRPr>
          </a:p>
        </p:txBody>
      </p:sp>
      <p:pic>
        <p:nvPicPr>
          <p:cNvPr id="5" name="Picture 4" descr="cell_66_output_1.png"/>
          <p:cNvPicPr>
            <a:picLocks noChangeAspect="1"/>
          </p:cNvPicPr>
          <p:nvPr/>
        </p:nvPicPr>
        <p:blipFill>
          <a:blip r:embed="rId2"/>
          <a:stretch>
            <a:fillRect/>
          </a:stretch>
        </p:blipFill>
        <p:spPr>
          <a:xfrm>
            <a:off x="457200" y="2569746"/>
            <a:ext cx="6494446" cy="2159000"/>
          </a:xfrm>
          <a:prstGeom prst="rect">
            <a:avLst/>
          </a:prstGeom>
        </p:spPr>
      </p:pic>
      <p:sp>
        <p:nvSpPr>
          <p:cNvPr id="6" name="TextBox 5"/>
          <p:cNvSpPr txBox="1"/>
          <p:nvPr/>
        </p:nvSpPr>
        <p:spPr>
          <a:xfrm>
            <a:off x="861946" y="4837489"/>
            <a:ext cx="5684954"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Training/validation curves show learning of voice characteristics</a:t>
            </a:r>
          </a:p>
        </p:txBody>
      </p:sp>
      <p:pic>
        <p:nvPicPr>
          <p:cNvPr id="7" name="Picture 6" descr="cell_66_output_2.png">
            <a:extLst>
              <a:ext uri="{FF2B5EF4-FFF2-40B4-BE49-F238E27FC236}">
                <a16:creationId xmlns:a16="http://schemas.microsoft.com/office/drawing/2014/main" id="{DC109B17-A7BF-988E-CBD8-5F7F3677B5E8}"/>
              </a:ext>
            </a:extLst>
          </p:cNvPr>
          <p:cNvPicPr>
            <a:picLocks noChangeAspect="1"/>
          </p:cNvPicPr>
          <p:nvPr/>
        </p:nvPicPr>
        <p:blipFill>
          <a:blip r:embed="rId3"/>
          <a:stretch>
            <a:fillRect/>
          </a:stretch>
        </p:blipFill>
        <p:spPr>
          <a:xfrm>
            <a:off x="7245400" y="1915160"/>
            <a:ext cx="4276447" cy="3571240"/>
          </a:xfrm>
          <a:prstGeom prst="rect">
            <a:avLst/>
          </a:prstGeom>
        </p:spPr>
      </p:pic>
      <p:sp>
        <p:nvSpPr>
          <p:cNvPr id="8" name="TextBox 7"/>
          <p:cNvSpPr txBox="1"/>
          <p:nvPr/>
        </p:nvSpPr>
        <p:spPr>
          <a:xfrm>
            <a:off x="7040546" y="5506720"/>
            <a:ext cx="4276447" cy="584775"/>
          </a:xfrm>
          <a:prstGeom prst="rect">
            <a:avLst/>
          </a:prstGeom>
          <a:noFill/>
        </p:spPr>
        <p:txBody>
          <a:bodyPr wrap="squar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Confusion matrix confirms cross-device generalization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7700891"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Device Bias vs Voice Learning Comparison</a:t>
            </a:r>
          </a:p>
        </p:txBody>
      </p:sp>
      <p:pic>
        <p:nvPicPr>
          <p:cNvPr id="5" name="Picture 4" descr="cell_53_output_0.png"/>
          <p:cNvPicPr>
            <a:picLocks noChangeAspect="1"/>
          </p:cNvPicPr>
          <p:nvPr/>
        </p:nvPicPr>
        <p:blipFill>
          <a:blip r:embed="rId2"/>
          <a:stretch>
            <a:fillRect/>
          </a:stretch>
        </p:blipFill>
        <p:spPr>
          <a:xfrm>
            <a:off x="1371600" y="1574800"/>
            <a:ext cx="9448495" cy="4194044"/>
          </a:xfrm>
          <a:prstGeom prst="rect">
            <a:avLst/>
          </a:prstGeom>
        </p:spPr>
      </p:pic>
      <p:sp>
        <p:nvSpPr>
          <p:cNvPr id="6" name="TextBox 5"/>
          <p:cNvSpPr txBox="1"/>
          <p:nvPr/>
        </p:nvSpPr>
        <p:spPr>
          <a:xfrm>
            <a:off x="3696793" y="5963920"/>
            <a:ext cx="4798108"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Phase 3 clusters by device | Phase 4 clusters by speaker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7705507"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Phase 3 vs Phase 4: The Critical Difference</a:t>
            </a:r>
          </a:p>
        </p:txBody>
      </p:sp>
      <p:sp>
        <p:nvSpPr>
          <p:cNvPr id="5" name="TextBox 4"/>
          <p:cNvSpPr txBox="1"/>
          <p:nvPr/>
        </p:nvSpPr>
        <p:spPr>
          <a:xfrm>
            <a:off x="2465751" y="1463040"/>
            <a:ext cx="7260193" cy="338554"/>
          </a:xfrm>
          <a:prstGeom prst="rect">
            <a:avLst/>
          </a:prstGeom>
          <a:noFill/>
        </p:spPr>
        <p:txBody>
          <a:bodyPr wrap="none">
            <a:spAutoFit/>
          </a:bodyPr>
          <a:lstStyle/>
          <a:p>
            <a:pPr algn="ctr">
              <a:defRPr sz="1600" i="1">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Nearly identical validation accuracy, dramatically different real-world performance</a:t>
            </a:r>
          </a:p>
        </p:txBody>
      </p:sp>
      <p:graphicFrame>
        <p:nvGraphicFramePr>
          <p:cNvPr id="6" name="Table 5"/>
          <p:cNvGraphicFramePr>
            <a:graphicFrameLocks noGrp="1"/>
          </p:cNvGraphicFramePr>
          <p:nvPr>
            <p:extLst>
              <p:ext uri="{D42A27DB-BD31-4B8C-83A1-F6EECF244321}">
                <p14:modId xmlns:p14="http://schemas.microsoft.com/office/powerpoint/2010/main" val="959107541"/>
              </p:ext>
            </p:extLst>
          </p:nvPr>
        </p:nvGraphicFramePr>
        <p:xfrm>
          <a:off x="1523847" y="2011680"/>
          <a:ext cx="9144000" cy="4236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57200">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Aspect</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Phase 3 (Different Devices)</a:t>
                      </a:r>
                    </a:p>
                  </a:txBody>
                  <a:tcPr>
                    <a:solidFill>
                      <a:srgbClr val="00274C"/>
                    </a:solidFill>
                  </a:tcPr>
                </a:tc>
                <a:tc>
                  <a:txBody>
                    <a:bodyPr/>
                    <a:lstStyle/>
                    <a:p>
                      <a:pPr algn="ctr">
                        <a:defRPr sz="1800" b="1">
                          <a:solidFill>
                            <a:srgbClr val="FFFFFF"/>
                          </a:solidFill>
                        </a:defRPr>
                      </a:pPr>
                      <a:r>
                        <a:rPr>
                          <a:latin typeface="Times New Roman" panose="02020603050405020304" pitchFamily="18" charset="0"/>
                          <a:cs typeface="Times New Roman" panose="02020603050405020304" pitchFamily="18" charset="0"/>
                        </a:rPr>
                        <a:t>Phase 4 (Same Device)</a:t>
                      </a:r>
                    </a:p>
                  </a:txBody>
                  <a:tcPr>
                    <a:solidFill>
                      <a:srgbClr val="00274C"/>
                    </a:solidFill>
                  </a:tcPr>
                </a:tc>
                <a:extLst>
                  <a:ext uri="{0D108BD9-81ED-4DB2-BD59-A6C34878D82A}">
                    <a16:rowId xmlns:a16="http://schemas.microsoft.com/office/drawing/2014/main" val="10000"/>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Data Collection</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Each speaker uses own device</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All speakers use ONE device</a:t>
                      </a:r>
                    </a:p>
                  </a:txBody>
                  <a:tcPr/>
                </a:tc>
                <a:extLst>
                  <a:ext uri="{0D108BD9-81ED-4DB2-BD59-A6C34878D82A}">
                    <a16:rowId xmlns:a16="http://schemas.microsoft.com/office/drawing/2014/main" val="10001"/>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Training Device Setup</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Abbas: iPhone, Hesham: Samsung, Shravya: Pixel</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All: iPhone 13 Pro Max</a:t>
                      </a:r>
                    </a:p>
                  </a:txBody>
                  <a:tcPr>
                    <a:solidFill>
                      <a:srgbClr val="F2F2F2"/>
                    </a:solidFill>
                  </a:tcPr>
                </a:tc>
                <a:extLst>
                  <a:ext uri="{0D108BD9-81ED-4DB2-BD59-A6C34878D82A}">
                    <a16:rowId xmlns:a16="http://schemas.microsoft.com/office/drawing/2014/main" val="10002"/>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Validation Accuracy</a:t>
                      </a:r>
                    </a:p>
                  </a:txBody>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95.33%</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95.74%</a:t>
                      </a:r>
                    </a:p>
                  </a:txBody>
                  <a:tcPr/>
                </a:tc>
                <a:extLst>
                  <a:ext uri="{0D108BD9-81ED-4DB2-BD59-A6C34878D82A}">
                    <a16:rowId xmlns:a16="http://schemas.microsoft.com/office/drawing/2014/main" val="10003"/>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Test Accuracy (same device)</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94.87%</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96.12%</a:t>
                      </a:r>
                    </a:p>
                  </a:txBody>
                  <a:tcPr>
                    <a:solidFill>
                      <a:srgbClr val="F2F2F2"/>
                    </a:solidFill>
                  </a:tcPr>
                </a:tc>
                <a:extLst>
                  <a:ext uri="{0D108BD9-81ED-4DB2-BD59-A6C34878D82A}">
                    <a16:rowId xmlns:a16="http://schemas.microsoft.com/office/drawing/2014/main" val="10004"/>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Test Accuracy (cross-device)</a:t>
                      </a:r>
                    </a:p>
                  </a:txBody>
                  <a:tcPr/>
                </a:tc>
                <a:tc>
                  <a:txBody>
                    <a:bodyPr/>
                    <a:lstStyle/>
                    <a:p>
                      <a:pPr algn="ctr">
                        <a:defRPr sz="1600">
                          <a:solidFill>
                            <a:srgbClr val="333333"/>
                          </a:solidFill>
                        </a:defRPr>
                      </a:pPr>
                      <a:r>
                        <a:rPr lang="en-US" dirty="0">
                          <a:latin typeface="Times New Roman" panose="02020603050405020304" pitchFamily="18" charset="0"/>
                          <a:cs typeface="Times New Roman" panose="02020603050405020304" pitchFamily="18" charset="0"/>
                        </a:rPr>
                        <a:t>Not good at all</a:t>
                      </a:r>
                      <a:endParaRPr dirty="0">
                        <a:latin typeface="Times New Roman" panose="02020603050405020304" pitchFamily="18" charset="0"/>
                        <a:cs typeface="Times New Roman" panose="02020603050405020304" pitchFamily="18" charset="0"/>
                      </a:endParaRP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96% - SUCCESS</a:t>
                      </a:r>
                    </a:p>
                  </a:txBody>
                  <a:tcPr/>
                </a:tc>
                <a:extLst>
                  <a:ext uri="{0D108BD9-81ED-4DB2-BD59-A6C34878D82A}">
                    <a16:rowId xmlns:a16="http://schemas.microsoft.com/office/drawing/2014/main" val="10005"/>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Features Learned</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Device microphone signatures</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Speaker voice characteristics</a:t>
                      </a:r>
                    </a:p>
                  </a:txBody>
                  <a:tcPr>
                    <a:solidFill>
                      <a:srgbClr val="F2F2F2"/>
                    </a:solidFill>
                  </a:tcPr>
                </a:tc>
                <a:extLst>
                  <a:ext uri="{0D108BD9-81ED-4DB2-BD59-A6C34878D82A}">
                    <a16:rowId xmlns:a16="http://schemas.microsoft.com/office/drawing/2014/main" val="10006"/>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Cross-Device Generalization</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NO</a:t>
                      </a:r>
                    </a:p>
                  </a:txBody>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10007"/>
                  </a:ext>
                </a:extLst>
              </a:tr>
              <a:tr h="457200">
                <a:tc>
                  <a:txBody>
                    <a:bodyPr/>
                    <a:lstStyle/>
                    <a:p>
                      <a:pPr algn="ctr">
                        <a:defRPr sz="1600" b="1">
                          <a:solidFill>
                            <a:srgbClr val="333333"/>
                          </a:solidFill>
                        </a:defRPr>
                      </a:pPr>
                      <a:r>
                        <a:rPr>
                          <a:latin typeface="Times New Roman" panose="02020603050405020304" pitchFamily="18" charset="0"/>
                          <a:cs typeface="Times New Roman" panose="02020603050405020304" pitchFamily="18" charset="0"/>
                        </a:rPr>
                        <a:t>Real-World Deployment</a:t>
                      </a:r>
                    </a:p>
                  </a:txBody>
                  <a:tcPr>
                    <a:solidFill>
                      <a:srgbClr val="F2F2F2"/>
                    </a:solidFill>
                  </a:tcPr>
                </a:tc>
                <a:tc>
                  <a:txBody>
                    <a:bodyPr/>
                    <a:lstStyle/>
                    <a:p>
                      <a:pPr algn="ctr">
                        <a:defRPr sz="1600">
                          <a:solidFill>
                            <a:srgbClr val="333333"/>
                          </a:solidFill>
                        </a:defRPr>
                      </a:pPr>
                      <a:r>
                        <a:rPr>
                          <a:latin typeface="Times New Roman" panose="02020603050405020304" pitchFamily="18" charset="0"/>
                          <a:cs typeface="Times New Roman" panose="02020603050405020304" pitchFamily="18" charset="0"/>
                        </a:rPr>
                        <a:t>Unusable</a:t>
                      </a:r>
                    </a:p>
                  </a:txBody>
                  <a:tcPr>
                    <a:solidFill>
                      <a:srgbClr val="F2F2F2"/>
                    </a:solidFill>
                  </a:tcPr>
                </a:tc>
                <a:tc>
                  <a:txBody>
                    <a:bodyPr/>
                    <a:lstStyle/>
                    <a:p>
                      <a:pPr algn="ctr">
                        <a:defRPr sz="1600">
                          <a:solidFill>
                            <a:srgbClr val="333333"/>
                          </a:solidFill>
                        </a:defRPr>
                      </a:pPr>
                      <a:r>
                        <a:rPr dirty="0">
                          <a:latin typeface="Times New Roman" panose="02020603050405020304" pitchFamily="18" charset="0"/>
                          <a:cs typeface="Times New Roman" panose="02020603050405020304" pitchFamily="18" charset="0"/>
                        </a:rPr>
                        <a:t>Production-ready</a:t>
                      </a:r>
                    </a:p>
                  </a:txBody>
                  <a:tcPr>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2520242" cy="584775"/>
          </a:xfrm>
          <a:prstGeom prst="rect">
            <a:avLst/>
          </a:prstGeom>
          <a:noFill/>
        </p:spPr>
        <p:txBody>
          <a:bodyPr wrap="none">
            <a:spAutoFit/>
          </a:bodyPr>
          <a:lstStyle/>
          <a:p>
            <a:pPr>
              <a:defRPr sz="3200" b="1">
                <a:solidFill>
                  <a:srgbClr val="FFFFFF"/>
                </a:solidFill>
              </a:defRPr>
            </a:pPr>
            <a:r>
              <a:rPr>
                <a:latin typeface="Times New Roman" panose="02020603050405020304" pitchFamily="18" charset="0"/>
                <a:cs typeface="Times New Roman" panose="02020603050405020304" pitchFamily="18" charset="0"/>
              </a:rPr>
              <a:t>Key Findings</a:t>
            </a:r>
          </a:p>
        </p:txBody>
      </p:sp>
      <p:sp>
        <p:nvSpPr>
          <p:cNvPr id="5" name="TextBox 4"/>
          <p:cNvSpPr txBox="1"/>
          <p:nvPr/>
        </p:nvSpPr>
        <p:spPr>
          <a:xfrm>
            <a:off x="731519" y="1431985"/>
            <a:ext cx="10728655" cy="4330481"/>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1. Data Collection is Critical</a:t>
            </a:r>
          </a:p>
          <a:p>
            <a:pPr lvl="1">
              <a:lnSpc>
                <a:spcPct val="130000"/>
              </a:lnSpc>
              <a:spcBef>
                <a:spcPts val="1200"/>
              </a:spcBef>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How you collect data matters as much as model architecture</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2. High Accuracy Can Mislead</a:t>
            </a:r>
          </a:p>
          <a:p>
            <a:pPr lvl="1">
              <a:lnSpc>
                <a:spcPct val="130000"/>
              </a:lnSpc>
              <a:spcBef>
                <a:spcPts val="1200"/>
              </a:spcBef>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95% accuracy doesn't reveal WHAT the model learned</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3. Deployment Testing Required</a:t>
            </a:r>
          </a:p>
          <a:p>
            <a:pPr lvl="1">
              <a:lnSpc>
                <a:spcPct val="130000"/>
              </a:lnSpc>
              <a:spcBef>
                <a:spcPts val="1200"/>
              </a:spcBef>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Standard validation doesn't catch confounding variables</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4. Models Optimize Objectives, Not Intent</a:t>
            </a:r>
          </a:p>
          <a:p>
            <a:pPr lvl="1">
              <a:lnSpc>
                <a:spcPct val="130000"/>
              </a:lnSpc>
              <a:spcBef>
                <a:spcPts val="1200"/>
              </a:spcBef>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      Neural networks exploit ANY consistent discriminative pattern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6637330" cy="584775"/>
          </a:xfrm>
          <a:prstGeom prst="rect">
            <a:avLst/>
          </a:prstGeom>
          <a:noFill/>
        </p:spPr>
        <p:txBody>
          <a:bodyPr wrap="none">
            <a:spAutoFit/>
          </a:bodyPr>
          <a:lstStyle/>
          <a:p>
            <a:pPr>
              <a:defRPr sz="3200" b="1">
                <a:solidFill>
                  <a:srgbClr val="FFFFFF"/>
                </a:solidFill>
              </a:defRPr>
            </a:pPr>
            <a:r>
              <a:rPr lang="en-US" dirty="0">
                <a:latin typeface="Times New Roman" panose="02020603050405020304" pitchFamily="18" charset="0"/>
                <a:cs typeface="Times New Roman" panose="02020603050405020304" pitchFamily="18" charset="0"/>
              </a:rPr>
              <a:t>Limitations &amp; </a:t>
            </a:r>
            <a:r>
              <a:rPr dirty="0">
                <a:latin typeface="Times New Roman" panose="02020603050405020304" pitchFamily="18" charset="0"/>
                <a:cs typeface="Times New Roman" panose="02020603050405020304" pitchFamily="18" charset="0"/>
              </a:rPr>
              <a:t>Future Enhancements</a:t>
            </a:r>
          </a:p>
        </p:txBody>
      </p:sp>
      <p:sp>
        <p:nvSpPr>
          <p:cNvPr id="5" name="TextBox 4"/>
          <p:cNvSpPr txBox="1"/>
          <p:nvPr/>
        </p:nvSpPr>
        <p:spPr>
          <a:xfrm>
            <a:off x="731519" y="1310065"/>
            <a:ext cx="10728655" cy="5438476"/>
          </a:xfrm>
          <a:prstGeom prst="rect">
            <a:avLst/>
          </a:prstGeom>
          <a:noFill/>
        </p:spPr>
        <p:txBody>
          <a:bodyPr wrap="square">
            <a:spAutoFit/>
          </a:bodyPr>
          <a:lstStyle/>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Short-Term</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Data augmentation (pitch shift, time stretch, noise addition)</a:t>
            </a:r>
          </a:p>
          <a:p>
            <a:pPr marL="800100" lvl="1" indent="-342900">
              <a:lnSpc>
                <a:spcPct val="130000"/>
              </a:lnSpc>
              <a:spcBef>
                <a:spcPts val="1200"/>
              </a:spcBef>
              <a:buFont typeface="Wingdings" panose="05000000000000000000" pitchFamily="2" charset="2"/>
              <a:buChar char="§"/>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Attention mechanisms for distinctive voice segments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Scale to 10+ speakers</a:t>
            </a:r>
          </a:p>
          <a:p>
            <a:pPr>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Long-Term</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Speaker </a:t>
            </a:r>
            <a:r>
              <a:rPr dirty="0" err="1">
                <a:solidFill>
                  <a:schemeClr val="tx1">
                    <a:lumMod val="95000"/>
                    <a:lumOff val="5000"/>
                  </a:schemeClr>
                </a:solidFill>
                <a:latin typeface="Times New Roman" panose="02020603050405020304" pitchFamily="18" charset="0"/>
                <a:cs typeface="Times New Roman" panose="02020603050405020304" pitchFamily="18" charset="0"/>
              </a:rPr>
              <a:t>diarization</a:t>
            </a:r>
            <a:r>
              <a:rPr dirty="0">
                <a:solidFill>
                  <a:schemeClr val="tx1">
                    <a:lumMod val="95000"/>
                    <a:lumOff val="5000"/>
                  </a:schemeClr>
                </a:solidFill>
                <a:latin typeface="Times New Roman" panose="02020603050405020304" pitchFamily="18" charset="0"/>
                <a:cs typeface="Times New Roman" panose="02020603050405020304" pitchFamily="18" charset="0"/>
              </a:rPr>
              <a:t> (who spoke when)</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Emotion recognition from voice characteristics</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Mobile app deployment for authentication</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Anti-spoofing mechanisms (replay attack detection)</a:t>
            </a:r>
          </a:p>
          <a:p>
            <a:pPr marL="800100" lvl="1" indent="-342900">
              <a:lnSpc>
                <a:spcPct val="130000"/>
              </a:lnSpc>
              <a:spcBef>
                <a:spcPts val="1200"/>
              </a:spcBef>
              <a:buFont typeface="Wingdings" panose="05000000000000000000" pitchFamily="2" charset="2"/>
              <a:buChar char="§"/>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Multimodal biometrics (face + voice fusion)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320040"/>
            <a:ext cx="7459478" cy="584775"/>
          </a:xfrm>
          <a:prstGeom prst="rect">
            <a:avLst/>
          </a:prstGeom>
          <a:noFill/>
        </p:spPr>
        <p:txBody>
          <a:bodyPr wrap="none">
            <a:spAutoFit/>
          </a:bodyPr>
          <a:lstStyle/>
          <a:p>
            <a:pPr>
              <a:defRPr sz="3200" b="1">
                <a:solidFill>
                  <a:srgbClr val="FFFFFF"/>
                </a:solidFill>
              </a:defRPr>
            </a:pPr>
            <a:r>
              <a:rPr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and Project Accomplishments</a:t>
            </a:r>
            <a:endParaRPr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31520" y="1310065"/>
            <a:ext cx="11277600" cy="5438092"/>
          </a:xfrm>
          <a:prstGeom prst="rect">
            <a:avLst/>
          </a:prstGeom>
          <a:noFill/>
        </p:spPr>
        <p:txBody>
          <a:bodyPr wrap="square">
            <a:spAutoFit/>
          </a:bodyPr>
          <a:lstStyle/>
          <a:p>
            <a:pPr algn="just">
              <a:lnSpc>
                <a:spcPct val="130000"/>
              </a:lnSpc>
              <a:spcBef>
                <a:spcPts val="1200"/>
              </a:spcBef>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From Implementation to Scientific Discovery</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Started: </a:t>
            </a:r>
            <a:r>
              <a:rPr dirty="0">
                <a:solidFill>
                  <a:schemeClr val="tx1">
                    <a:lumMod val="95000"/>
                    <a:lumOff val="5000"/>
                  </a:schemeClr>
                </a:solidFill>
                <a:latin typeface="Times New Roman" panose="02020603050405020304" pitchFamily="18" charset="0"/>
                <a:cs typeface="Times New Roman" panose="02020603050405020304" pitchFamily="18" charset="0"/>
              </a:rPr>
              <a:t>Straightforward speaker recognition project</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Evolved: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Investigation of unexpected failure</a:t>
            </a:r>
          </a:p>
          <a:p>
            <a:pPr marL="800100" lvl="1" indent="-342900" algn="just">
              <a:lnSpc>
                <a:spcPct val="130000"/>
              </a:lnSpc>
              <a:spcBef>
                <a:spcPts val="1200"/>
              </a:spcBef>
              <a:buFont typeface="Wingdings" panose="05000000000000000000" pitchFamily="2" charset="2"/>
              <a:buChar char="§"/>
              <a:defRPr sz="2000">
                <a:solidFill>
                  <a:srgbClr val="666666"/>
                </a:solidFill>
              </a:defRPr>
            </a:pPr>
            <a:r>
              <a:rPr b="1" dirty="0">
                <a:solidFill>
                  <a:schemeClr val="tx1">
                    <a:lumMod val="95000"/>
                    <a:lumOff val="5000"/>
                  </a:schemeClr>
                </a:solidFill>
                <a:latin typeface="Times New Roman" panose="02020603050405020304" pitchFamily="18" charset="0"/>
                <a:cs typeface="Times New Roman" panose="02020603050405020304" pitchFamily="18" charset="0"/>
              </a:rPr>
              <a:t>Discovered: </a:t>
            </a:r>
            <a:r>
              <a:rPr dirty="0">
                <a:solidFill>
                  <a:schemeClr val="tx1">
                    <a:lumMod val="95000"/>
                    <a:lumOff val="5000"/>
                  </a:schemeClr>
                </a:solidFill>
                <a:latin typeface="Times New Roman" panose="02020603050405020304" pitchFamily="18" charset="0"/>
                <a:cs typeface="Times New Roman" panose="02020603050405020304" pitchFamily="18" charset="0"/>
              </a:rPr>
              <a:t>Fundamental ML insight about data collection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30000"/>
              </a:lnSpc>
              <a:spcBef>
                <a:spcPts val="1200"/>
              </a:spcBef>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Validated MFCC + LSTM across 3 datasets (Kaggle, YouTube, custom)</a:t>
            </a:r>
          </a:p>
          <a:p>
            <a:pPr algn="just">
              <a:lnSpc>
                <a:spcPct val="130000"/>
              </a:lnSpc>
              <a:spcBef>
                <a:spcPts val="1200"/>
              </a:spcBef>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Achieved 95-98% accuracy in all phases</a:t>
            </a:r>
          </a:p>
          <a:p>
            <a:pPr algn="just">
              <a:lnSpc>
                <a:spcPct val="130000"/>
              </a:lnSpc>
              <a:spcBef>
                <a:spcPts val="1200"/>
              </a:spcBef>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Discovered and rigorously documented device bias phenomenon</a:t>
            </a:r>
          </a:p>
          <a:p>
            <a:pPr algn="just">
              <a:lnSpc>
                <a:spcPct val="130000"/>
              </a:lnSpc>
              <a:spcBef>
                <a:spcPts val="1200"/>
              </a:spcBef>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Designed controlled experiment proving root cause</a:t>
            </a:r>
          </a:p>
          <a:p>
            <a:pPr algn="just">
              <a:lnSpc>
                <a:spcPct val="130000"/>
              </a:lnSpc>
              <a:spcBef>
                <a:spcPts val="1200"/>
              </a:spcBef>
              <a:defRPr sz="2000">
                <a:solidFill>
                  <a:srgbClr val="666666"/>
                </a:solidFill>
              </a:defRP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Developed solution with 96% cross-device validation</a:t>
            </a:r>
          </a:p>
          <a:p>
            <a:pPr algn="just">
              <a:lnSpc>
                <a:spcPct val="130000"/>
              </a:lnSpc>
              <a:spcBef>
                <a:spcPts val="1200"/>
              </a:spcBef>
              <a:defRPr sz="2000">
                <a:solidFill>
                  <a:srgbClr val="666666"/>
                </a:solidFill>
              </a:defRPr>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 Demonstrated: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Data methodology = Algorithm design in importance</a:t>
            </a:r>
            <a:endParaRPr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399BA-517C-C41B-E485-1D2E867D3A6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91A3A5-3E5C-ED27-6426-1100645BEA25}"/>
              </a:ext>
            </a:extLst>
          </p:cNvPr>
          <p:cNvSpPr/>
          <p:nvPr/>
        </p:nvSpPr>
        <p:spPr>
          <a:xfrm>
            <a:off x="0" y="0"/>
            <a:ext cx="12191695" cy="109728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734A24E-6CE3-BFBC-A95D-0D07340F7C34}"/>
              </a:ext>
            </a:extLst>
          </p:cNvPr>
          <p:cNvSpPr/>
          <p:nvPr/>
        </p:nvSpPr>
        <p:spPr>
          <a:xfrm>
            <a:off x="0" y="1097280"/>
            <a:ext cx="12191695" cy="9144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59BC3E1-7CED-22CC-8EB5-751D8DAFD9C0}"/>
              </a:ext>
            </a:extLst>
          </p:cNvPr>
          <p:cNvSpPr txBox="1"/>
          <p:nvPr/>
        </p:nvSpPr>
        <p:spPr>
          <a:xfrm>
            <a:off x="507918" y="320040"/>
            <a:ext cx="2094421" cy="584775"/>
          </a:xfrm>
          <a:prstGeom prst="rect">
            <a:avLst/>
          </a:prstGeom>
          <a:noFill/>
        </p:spPr>
        <p:txBody>
          <a:bodyPr wrap="none">
            <a:spAutoFit/>
          </a:bodyPr>
          <a:lstStyle/>
          <a:p>
            <a:pPr algn="r">
              <a:defRPr sz="3200" b="1">
                <a:solidFill>
                  <a:srgbClr val="FFFFFF"/>
                </a:solidFill>
              </a:defRPr>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E44D0A6-DC86-9A35-B015-58C5A9972E6F}"/>
              </a:ext>
            </a:extLst>
          </p:cNvPr>
          <p:cNvSpPr txBox="1"/>
          <p:nvPr/>
        </p:nvSpPr>
        <p:spPr>
          <a:xfrm>
            <a:off x="731520" y="1401505"/>
            <a:ext cx="10850880" cy="5069145"/>
          </a:xfrm>
          <a:prstGeom prst="rect">
            <a:avLst/>
          </a:prstGeom>
          <a:noFill/>
        </p:spPr>
        <p:txBody>
          <a:bodyPr wrap="square">
            <a:spAutoFit/>
          </a:bodyPr>
          <a:lstStyle/>
          <a:p>
            <a:pPr algn="just">
              <a:lnSpc>
                <a:spcPct val="130000"/>
              </a:lnSpc>
              <a:spcBef>
                <a:spcPts val="1200"/>
              </a:spcBef>
              <a:defRPr sz="2000">
                <a:solidFill>
                  <a:srgbClr val="666666"/>
                </a:solidFill>
              </a:defRPr>
            </a:pPr>
            <a:r>
              <a:rPr lang="en-US" b="1" dirty="0">
                <a:solidFill>
                  <a:srgbClr val="404042"/>
                </a:solidFill>
                <a:latin typeface="Times New Roman" panose="02020603050405020304" pitchFamily="18" charset="0"/>
                <a:cs typeface="Times New Roman" panose="02020603050405020304" pitchFamily="18" charset="0"/>
              </a:rPr>
              <a:t>[1] </a:t>
            </a:r>
            <a:r>
              <a:rPr lang="en-US" dirty="0">
                <a:solidFill>
                  <a:srgbClr val="404042"/>
                </a:solidFill>
                <a:latin typeface="Times New Roman" panose="02020603050405020304" pitchFamily="18" charset="0"/>
                <a:cs typeface="Times New Roman" panose="02020603050405020304" pitchFamily="18" charset="0"/>
              </a:rPr>
              <a:t>S. Davis and P. Mermelstein, “Comparison of parametric representations for mono syllabic word recognition in continuously spoken sentences,” IEEE Transactions on Acoustics, Speech, and Signal Processing, vol. 28, no. 4, pp. 357–366, 1980.</a:t>
            </a:r>
          </a:p>
          <a:p>
            <a:pPr algn="just">
              <a:lnSpc>
                <a:spcPct val="130000"/>
              </a:lnSpc>
              <a:spcBef>
                <a:spcPts val="1200"/>
              </a:spcBef>
              <a:defRPr sz="2000">
                <a:solidFill>
                  <a:srgbClr val="666666"/>
                </a:solidFill>
              </a:defRPr>
            </a:pPr>
            <a:r>
              <a:rPr lang="en-US" sz="2000" b="1" dirty="0">
                <a:solidFill>
                  <a:srgbClr val="404042"/>
                </a:solidFill>
                <a:latin typeface="Times New Roman" panose="02020603050405020304" pitchFamily="18" charset="0"/>
                <a:cs typeface="Times New Roman" panose="02020603050405020304" pitchFamily="18" charset="0"/>
              </a:rPr>
              <a:t>[2] </a:t>
            </a:r>
            <a:r>
              <a:rPr lang="en-US" sz="2000" dirty="0">
                <a:solidFill>
                  <a:srgbClr val="404042"/>
                </a:solidFill>
                <a:latin typeface="Times New Roman" panose="02020603050405020304" pitchFamily="18" charset="0"/>
                <a:cs typeface="Times New Roman" panose="02020603050405020304" pitchFamily="18" charset="0"/>
              </a:rPr>
              <a:t>S. Hochreiter and J. </a:t>
            </a:r>
            <a:r>
              <a:rPr lang="en-US" sz="2000" dirty="0" err="1">
                <a:solidFill>
                  <a:srgbClr val="404042"/>
                </a:solidFill>
                <a:latin typeface="Times New Roman" panose="02020603050405020304" pitchFamily="18" charset="0"/>
                <a:cs typeface="Times New Roman" panose="02020603050405020304" pitchFamily="18" charset="0"/>
              </a:rPr>
              <a:t>Schmidhuber</a:t>
            </a:r>
            <a:r>
              <a:rPr lang="en-US" sz="2000" dirty="0">
                <a:solidFill>
                  <a:srgbClr val="404042"/>
                </a:solidFill>
                <a:latin typeface="Times New Roman" panose="02020603050405020304" pitchFamily="18" charset="0"/>
                <a:cs typeface="Times New Roman" panose="02020603050405020304" pitchFamily="18" charset="0"/>
              </a:rPr>
              <a:t>, “Long short-term memory,” Neural Computation, vol. 9, no. 8, pp. 1735–1780, 1997.</a:t>
            </a:r>
          </a:p>
          <a:p>
            <a:pPr algn="just">
              <a:lnSpc>
                <a:spcPct val="130000"/>
              </a:lnSpc>
              <a:spcBef>
                <a:spcPts val="1200"/>
              </a:spcBef>
              <a:defRPr sz="2000">
                <a:solidFill>
                  <a:srgbClr val="666666"/>
                </a:solidFill>
              </a:defRPr>
            </a:pPr>
            <a:r>
              <a:rPr lang="en-US" sz="2000" b="1" dirty="0">
                <a:solidFill>
                  <a:srgbClr val="404042"/>
                </a:solidFill>
                <a:latin typeface="Times New Roman" panose="02020603050405020304" pitchFamily="18" charset="0"/>
                <a:cs typeface="Times New Roman" panose="02020603050405020304" pitchFamily="18" charset="0"/>
              </a:rPr>
              <a:t>[3] </a:t>
            </a:r>
            <a:r>
              <a:rPr lang="en-US" sz="2000" dirty="0">
                <a:solidFill>
                  <a:srgbClr val="404042"/>
                </a:solidFill>
                <a:latin typeface="Times New Roman" panose="02020603050405020304" pitchFamily="18" charset="0"/>
                <a:cs typeface="Times New Roman" panose="02020603050405020304" pitchFamily="18" charset="0"/>
              </a:rPr>
              <a:t>D. A. Reynolds and R. C. Rose, “Robust text-independent speaker identification using Gaussian mixture speaker models,” IEEE Transactions on Speech and Audio Processing, vol. 3, no. 1, pp. 72–83, 1995.</a:t>
            </a:r>
          </a:p>
          <a:p>
            <a:pPr algn="just">
              <a:lnSpc>
                <a:spcPct val="130000"/>
              </a:lnSpc>
              <a:spcBef>
                <a:spcPts val="1200"/>
              </a:spcBef>
              <a:defRPr sz="2000">
                <a:solidFill>
                  <a:srgbClr val="666666"/>
                </a:solidFill>
              </a:defRPr>
            </a:pPr>
            <a:r>
              <a:rPr lang="en-US" sz="2000" b="1" dirty="0">
                <a:solidFill>
                  <a:srgbClr val="404042"/>
                </a:solidFill>
                <a:latin typeface="Times New Roman" panose="02020603050405020304" pitchFamily="18" charset="0"/>
                <a:cs typeface="Times New Roman" panose="02020603050405020304" pitchFamily="18" charset="0"/>
              </a:rPr>
              <a:t>[4] </a:t>
            </a:r>
            <a:r>
              <a:rPr lang="en-US" sz="2000" dirty="0">
                <a:solidFill>
                  <a:srgbClr val="404042"/>
                </a:solidFill>
                <a:latin typeface="Times New Roman" panose="02020603050405020304" pitchFamily="18" charset="0"/>
                <a:cs typeface="Times New Roman" panose="02020603050405020304" pitchFamily="18" charset="0"/>
              </a:rPr>
              <a:t>L. Rabiner and B. H. Juang, Fundamentals of Speech Recognition. Prentice Hall, 1993.</a:t>
            </a:r>
          </a:p>
          <a:p>
            <a:pPr algn="just">
              <a:lnSpc>
                <a:spcPct val="130000"/>
              </a:lnSpc>
              <a:spcBef>
                <a:spcPts val="1200"/>
              </a:spcBef>
              <a:defRPr sz="2000">
                <a:solidFill>
                  <a:srgbClr val="666666"/>
                </a:solidFill>
              </a:defRPr>
            </a:pPr>
            <a:r>
              <a:rPr lang="en-US" sz="2000" b="1" dirty="0">
                <a:solidFill>
                  <a:srgbClr val="404042"/>
                </a:solidFill>
                <a:latin typeface="Times New Roman" panose="02020603050405020304" pitchFamily="18" charset="0"/>
                <a:cs typeface="Times New Roman" panose="02020603050405020304" pitchFamily="18" charset="0"/>
              </a:rPr>
              <a:t>[5] </a:t>
            </a:r>
            <a:r>
              <a:rPr lang="en-US" sz="2000" dirty="0">
                <a:solidFill>
                  <a:srgbClr val="404042"/>
                </a:solidFill>
                <a:latin typeface="Times New Roman" panose="02020603050405020304" pitchFamily="18" charset="0"/>
                <a:cs typeface="Times New Roman" panose="02020603050405020304" pitchFamily="18" charset="0"/>
              </a:rPr>
              <a:t>J. P. Campbell, “Speaker recognition: A tutorial,” Proceedings of the IEEE, vol. 85, no. 9, pp. 1437–1462, 1997.</a:t>
            </a:r>
            <a:endParaRPr dirty="0">
              <a:solidFill>
                <a:srgbClr val="40404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672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00274C"/>
          </a:solidFill>
          <a:ln>
            <a:solidFill>
              <a:srgbClr val="002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2286000"/>
            <a:ext cx="12191695" cy="137160"/>
          </a:xfrm>
          <a:prstGeom prst="rect">
            <a:avLst/>
          </a:prstGeom>
          <a:solidFill>
            <a:srgbClr val="FFCB05"/>
          </a:solidFill>
          <a:ln>
            <a:solidFill>
              <a:srgbClr val="FFCB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457200" y="945615"/>
            <a:ext cx="11277295" cy="1015663"/>
          </a:xfrm>
          <a:prstGeom prst="rect">
            <a:avLst/>
          </a:prstGeom>
          <a:noFill/>
        </p:spPr>
        <p:txBody>
          <a:bodyPr wrap="square">
            <a:spAutoFit/>
          </a:bodyPr>
          <a:lstStyle/>
          <a:p>
            <a:pPr algn="ctr">
              <a:defRPr sz="4400" b="1">
                <a:solidFill>
                  <a:srgbClr val="FFFFFF"/>
                </a:solidFill>
              </a:defRPr>
            </a:pPr>
            <a:r>
              <a:rPr sz="6000" dirty="0">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28F47EBA-3951-849C-31E0-C4DFCDA27C26}"/>
              </a:ext>
            </a:extLst>
          </p:cNvPr>
          <p:cNvSpPr txBox="1"/>
          <p:nvPr/>
        </p:nvSpPr>
        <p:spPr>
          <a:xfrm>
            <a:off x="4979712" y="2713970"/>
            <a:ext cx="2232279" cy="461665"/>
          </a:xfrm>
          <a:prstGeom prst="rect">
            <a:avLst/>
          </a:prstGeom>
          <a:noFill/>
        </p:spPr>
        <p:txBody>
          <a:bodyPr wrap="none">
            <a:spAutoFit/>
          </a:bodyPr>
          <a:lstStyle/>
          <a:p>
            <a:pPr algn="ctr">
              <a:defRPr sz="2400">
                <a:solidFill>
                  <a:srgbClr val="FFCB05"/>
                </a:solidFill>
              </a:defRPr>
            </a:pPr>
            <a:r>
              <a:rPr lang="en-US" b="1" dirty="0">
                <a:solidFill>
                  <a:schemeClr val="tx2">
                    <a:lumMod val="75000"/>
                  </a:schemeClr>
                </a:solidFill>
                <a:latin typeface="Times New Roman" panose="02020603050405020304" pitchFamily="18" charset="0"/>
                <a:cs typeface="Times New Roman" panose="02020603050405020304" pitchFamily="18" charset="0"/>
              </a:rPr>
              <a:t>Team Members</a:t>
            </a:r>
            <a:endParaRPr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568FC18-6863-59C6-ABFE-5E175DD82DEB}"/>
              </a:ext>
            </a:extLst>
          </p:cNvPr>
          <p:cNvSpPr txBox="1"/>
          <p:nvPr/>
        </p:nvSpPr>
        <p:spPr>
          <a:xfrm>
            <a:off x="457200" y="3200400"/>
            <a:ext cx="11277295" cy="1938992"/>
          </a:xfrm>
          <a:prstGeom prst="rect">
            <a:avLst/>
          </a:prstGeom>
          <a:noFill/>
        </p:spPr>
        <p:txBody>
          <a:bodyPr wrap="square">
            <a:spAutoFit/>
          </a:bodyPr>
          <a:lstStyle/>
          <a:p>
            <a:pPr algn="ctr">
              <a:lnSpc>
                <a:spcPct val="150000"/>
              </a:lnSpc>
              <a:defRPr sz="2000">
                <a:solidFill>
                  <a:srgbClr val="666666"/>
                </a:solidFill>
              </a:defRPr>
            </a:pPr>
            <a:r>
              <a:rPr dirty="0">
                <a:solidFill>
                  <a:schemeClr val="tx1">
                    <a:lumMod val="95000"/>
                    <a:lumOff val="5000"/>
                  </a:schemeClr>
                </a:solidFill>
                <a:latin typeface="Times New Roman" panose="02020603050405020304" pitchFamily="18" charset="0"/>
                <a:cs typeface="Times New Roman" panose="02020603050405020304" pitchFamily="18" charset="0"/>
              </a:rPr>
              <a:t>Abbas</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Ali</a:t>
            </a:r>
            <a:r>
              <a:rPr dirty="0">
                <a:solidFill>
                  <a:schemeClr val="tx1">
                    <a:lumMod val="95000"/>
                    <a:lumOff val="5000"/>
                  </a:schemeClr>
                </a:solidFill>
                <a:latin typeface="Times New Roman" panose="02020603050405020304" pitchFamily="18" charset="0"/>
                <a:cs typeface="Times New Roman" panose="02020603050405020304" pitchFamily="18" charset="0"/>
              </a:rPr>
              <a:t> • Shravya </a:t>
            </a:r>
            <a:r>
              <a:rPr dirty="0" err="1">
                <a:solidFill>
                  <a:schemeClr val="tx1">
                    <a:lumMod val="95000"/>
                    <a:lumOff val="5000"/>
                  </a:schemeClr>
                </a:solidFill>
                <a:latin typeface="Times New Roman" panose="02020603050405020304" pitchFamily="18" charset="0"/>
                <a:cs typeface="Times New Roman" panose="02020603050405020304" pitchFamily="18" charset="0"/>
              </a:rPr>
              <a:t>Kumbham</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 Hesham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Aldahbali</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a:t>
            </a: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ECE 5831 - Pattern Recognition and Neural Networks</a:t>
            </a: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University of Michigan - Dearborn</a:t>
            </a:r>
          </a:p>
          <a:p>
            <a:pPr algn="ctr"/>
            <a:endParaRPr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dirty="0">
                <a:solidFill>
                  <a:schemeClr val="tx1">
                    <a:lumMod val="95000"/>
                    <a:lumOff val="5000"/>
                  </a:schemeClr>
                </a:solidFill>
                <a:latin typeface="Times New Roman" panose="02020603050405020304" pitchFamily="18" charset="0"/>
                <a:cs typeface="Times New Roman" panose="02020603050405020304" pitchFamily="18" charset="0"/>
              </a:rPr>
              <a:t>December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619</TotalTime>
  <Words>1773</Words>
  <Application>Microsoft Office PowerPoint</Application>
  <PresentationFormat>Widescreen</PresentationFormat>
  <Paragraphs>306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 Abbas</cp:lastModifiedBy>
  <cp:revision>16</cp:revision>
  <dcterms:created xsi:type="dcterms:W3CDTF">2013-01-27T09:14:16Z</dcterms:created>
  <dcterms:modified xsi:type="dcterms:W3CDTF">2025-12-15T22:16:16Z</dcterms:modified>
  <cp:category/>
</cp:coreProperties>
</file>